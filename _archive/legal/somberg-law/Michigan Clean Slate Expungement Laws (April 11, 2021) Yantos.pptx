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82" r:id="rId4"/>
    <p:sldId id="263" r:id="rId5"/>
    <p:sldId id="264" r:id="rId6"/>
    <p:sldId id="257" r:id="rId7"/>
    <p:sldId id="262" r:id="rId8"/>
    <p:sldId id="285" r:id="rId9"/>
    <p:sldId id="260" r:id="rId10"/>
    <p:sldId id="265" r:id="rId11"/>
    <p:sldId id="283" r:id="rId12"/>
    <p:sldId id="271" r:id="rId13"/>
    <p:sldId id="268" r:id="rId14"/>
    <p:sldId id="269" r:id="rId15"/>
    <p:sldId id="274" r:id="rId16"/>
    <p:sldId id="275" r:id="rId17"/>
    <p:sldId id="286" r:id="rId18"/>
    <p:sldId id="270" r:id="rId19"/>
    <p:sldId id="266" r:id="rId20"/>
    <p:sldId id="259" r:id="rId21"/>
    <p:sldId id="273" r:id="rId22"/>
    <p:sldId id="287" r:id="rId23"/>
    <p:sldId id="277" r:id="rId24"/>
    <p:sldId id="279" r:id="rId25"/>
    <p:sldId id="289" r:id="rId26"/>
    <p:sldId id="290" r:id="rId27"/>
    <p:sldId id="291" r:id="rId28"/>
    <p:sldId id="280" r:id="rId29"/>
    <p:sldId id="288" r:id="rId30"/>
    <p:sldId id="302" r:id="rId31"/>
    <p:sldId id="293" r:id="rId32"/>
    <p:sldId id="294" r:id="rId33"/>
    <p:sldId id="295" r:id="rId34"/>
    <p:sldId id="296" r:id="rId35"/>
    <p:sldId id="297" r:id="rId36"/>
    <p:sldId id="298" r:id="rId37"/>
    <p:sldId id="299" r:id="rId38"/>
    <p:sldId id="300" r:id="rId39"/>
    <p:sldId id="303" r:id="rId40"/>
    <p:sldId id="301" r:id="rId41"/>
    <p:sldId id="305"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63" autoAdjust="0"/>
    <p:restoredTop sz="94660"/>
  </p:normalViewPr>
  <p:slideViewPr>
    <p:cSldViewPr snapToGrid="0">
      <p:cViewPr varScale="1">
        <p:scale>
          <a:sx n="72" d="100"/>
          <a:sy n="72" d="100"/>
        </p:scale>
        <p:origin x="24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86407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326178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1251374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1962B9-58CB-4928-AFE5-C39F850A0A2C}"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1720190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11962B9-58CB-4928-AFE5-C39F850A0A2C}" type="datetimeFigureOut">
              <a:rPr lang="en-US" smtClean="0"/>
              <a:t>4/15/2021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343540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3854734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539291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335466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11962B9-58CB-4928-AFE5-C39F850A0A2C}"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2096416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11962B9-58CB-4928-AFE5-C39F850A0A2C}"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589304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68510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782794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2812430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2431170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2283455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3779053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1962B9-58CB-4928-AFE5-C39F850A0A2C}"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1CD5B-D501-490A-85E3-076C32EF9CC1}" type="slidenum">
              <a:rPr lang="en-US" smtClean="0"/>
              <a:t>‹#›</a:t>
            </a:fld>
            <a:endParaRPr lang="en-US"/>
          </a:p>
        </p:txBody>
      </p:sp>
    </p:spTree>
    <p:extLst>
      <p:ext uri="{BB962C8B-B14F-4D97-AF65-F5344CB8AC3E}">
        <p14:creationId xmlns:p14="http://schemas.microsoft.com/office/powerpoint/2010/main" val="282153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9"/>
          <a:srcRect l="3613"/>
          <a:stretch>
            <a:fillRect/>
          </a:stretch>
        </p:blipFill>
        <p:spPr>
          <a:xfrm>
            <a:off x="0" y="2669685"/>
            <a:ext cx="4037012" cy="4188315"/>
          </a:xfrm>
          <a:prstGeom prst="rect">
            <a:avLst/>
          </a:prstGeom>
        </p:spPr>
      </p:pic>
      <p:pic>
        <p:nvPicPr>
          <p:cNvPr id="7" name="Picture 6"/>
          <p:cNvPicPr>
            <a:picLocks noChangeAspect="1"/>
          </p:cNvPicPr>
          <p:nvPr/>
        </p:nvPicPr>
        <p:blipFill>
          <a:blip r:embed="rId20"/>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a:blip r:embed="rId21"/>
          <a:srcRect t="28813"/>
          <a:stretch>
            <a:fillRect/>
          </a:stretch>
        </p:blipFill>
        <p:spPr>
          <a:xfrm>
            <a:off x="7999412" y="0"/>
            <a:ext cx="1603387" cy="1141407"/>
          </a:xfrm>
          <a:prstGeom prst="rect">
            <a:avLst/>
          </a:prstGeom>
        </p:spPr>
      </p:pic>
      <p:pic>
        <p:nvPicPr>
          <p:cNvPr id="10" name="Picture 9"/>
          <p:cNvPicPr>
            <a:picLocks noChangeAspect="1"/>
          </p:cNvPicPr>
          <p:nvPr/>
        </p:nvPicPr>
        <p:blipFill>
          <a:blip r:embed="rId22"/>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11962B9-58CB-4928-AFE5-C39F850A0A2C}" type="datetimeFigureOut">
              <a:rPr lang="en-US" smtClean="0"/>
              <a:t>4/15/2021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F51CD5B-D501-490A-85E3-076C32EF9CC1}" type="slidenum">
              <a:rPr lang="en-US" smtClean="0"/>
              <a:t>‹#›</a:t>
            </a:fld>
            <a:endParaRPr lang="en-US"/>
          </a:p>
        </p:txBody>
      </p:sp>
    </p:spTree>
    <p:extLst>
      <p:ext uri="{BB962C8B-B14F-4D97-AF65-F5344CB8AC3E}">
        <p14:creationId xmlns:p14="http://schemas.microsoft.com/office/powerpoint/2010/main" val="42791289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ct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546278"/>
            <a:ext cx="8825658" cy="3329581"/>
          </a:xfrm>
        </p:spPr>
        <p:txBody>
          <a:bodyPr/>
          <a:lstStyle/>
          <a:p>
            <a:r>
              <a:rPr lang="en-US" sz="6600"/>
              <a:t>Michigan Clean Slate Expungement Laws </a:t>
            </a:r>
            <a:r>
              <a:rPr lang="en-US" sz="5400"/>
              <a:t>(eff. April 11, 2021)</a:t>
            </a:r>
          </a:p>
        </p:txBody>
      </p:sp>
      <p:sp>
        <p:nvSpPr>
          <p:cNvPr id="3" name="Subtitle 2"/>
          <p:cNvSpPr>
            <a:spLocks noGrp="1"/>
          </p:cNvSpPr>
          <p:nvPr>
            <p:ph type="subTitle" idx="1"/>
          </p:nvPr>
        </p:nvSpPr>
        <p:spPr>
          <a:xfrm>
            <a:off x="1154955" y="4634815"/>
            <a:ext cx="8825658" cy="1146550"/>
          </a:xfrm>
        </p:spPr>
        <p:txBody>
          <a:bodyPr>
            <a:normAutofit fontScale="92500" lnSpcReduction="10000"/>
          </a:bodyPr>
          <a:lstStyle/>
          <a:p>
            <a:endParaRPr lang="en-US"/>
          </a:p>
          <a:p>
            <a:r>
              <a:rPr lang="en-US"/>
              <a:t>By:    Anne Yantus, Pro Bono Counsel</a:t>
            </a:r>
          </a:p>
          <a:p>
            <a:r>
              <a:rPr lang="en-US"/>
              <a:t>	  Bodman PLC</a:t>
            </a:r>
          </a:p>
        </p:txBody>
      </p:sp>
    </p:spTree>
    <p:extLst>
      <p:ext uri="{BB962C8B-B14F-4D97-AF65-F5344CB8AC3E}">
        <p14:creationId xmlns:p14="http://schemas.microsoft.com/office/powerpoint/2010/main" val="3795971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First, A Word About Terminology</a:t>
            </a:r>
          </a:p>
        </p:txBody>
      </p:sp>
      <p:sp>
        <p:nvSpPr>
          <p:cNvPr id="3" name="Content Placeholder 2"/>
          <p:cNvSpPr>
            <a:spLocks noGrp="1"/>
          </p:cNvSpPr>
          <p:nvPr>
            <p:ph idx="1"/>
          </p:nvPr>
        </p:nvSpPr>
        <p:spPr/>
        <p:txBody>
          <a:bodyPr/>
          <a:lstStyle/>
          <a:p>
            <a:pPr marL="0" indent="0">
              <a:buNone/>
            </a:pPr>
            <a:endParaRPr lang="en-US"/>
          </a:p>
          <a:p>
            <a:pPr marL="0" indent="0">
              <a:buNone/>
            </a:pPr>
            <a:r>
              <a:rPr lang="en-US"/>
              <a:t>Michigan Expungement Statutes Do Not Refer to Expungement or Expunction</a:t>
            </a:r>
          </a:p>
          <a:p>
            <a:pPr marL="0" indent="0">
              <a:buNone/>
            </a:pPr>
            <a:endParaRPr lang="en-US"/>
          </a:p>
          <a:p>
            <a:pPr marL="0" indent="0">
              <a:buNone/>
            </a:pPr>
            <a:r>
              <a:rPr lang="en-US" sz="3600" b="1" i="1"/>
              <a:t>Application to SET ASIDE a Conviction</a:t>
            </a:r>
          </a:p>
          <a:p>
            <a:pPr marL="0" indent="0">
              <a:buNone/>
            </a:pPr>
            <a:endParaRPr lang="en-US"/>
          </a:p>
        </p:txBody>
      </p:sp>
    </p:spTree>
    <p:extLst>
      <p:ext uri="{BB962C8B-B14F-4D97-AF65-F5344CB8AC3E}">
        <p14:creationId xmlns:p14="http://schemas.microsoft.com/office/powerpoint/2010/main" val="274410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Second, Always Check the Statute</a:t>
            </a:r>
          </a:p>
        </p:txBody>
      </p:sp>
      <p:sp>
        <p:nvSpPr>
          <p:cNvPr id="3" name="Content Placeholder 2"/>
          <p:cNvSpPr>
            <a:spLocks noGrp="1"/>
          </p:cNvSpPr>
          <p:nvPr>
            <p:ph idx="1"/>
          </p:nvPr>
        </p:nvSpPr>
        <p:spPr/>
        <p:txBody>
          <a:bodyPr/>
          <a:lstStyle/>
          <a:p>
            <a:endParaRPr lang="en-US"/>
          </a:p>
          <a:p>
            <a:pPr marL="0" indent="0">
              <a:buNone/>
            </a:pPr>
            <a:r>
              <a:rPr lang="en-US" b="1"/>
              <a:t>WARNING:</a:t>
            </a:r>
          </a:p>
          <a:p>
            <a:pPr marL="0" indent="0">
              <a:buNone/>
            </a:pPr>
            <a:endParaRPr lang="en-US" b="1"/>
          </a:p>
          <a:p>
            <a:pPr marL="0" indent="0">
              <a:buNone/>
            </a:pPr>
            <a:r>
              <a:rPr lang="en-US" b="1"/>
              <a:t>This presentation is no substitute for checking the relevant statutes</a:t>
            </a:r>
          </a:p>
          <a:p>
            <a:pPr marL="0" indent="0">
              <a:buNone/>
            </a:pPr>
            <a:r>
              <a:rPr lang="en-US" b="1"/>
              <a:t> MCL 780.621 </a:t>
            </a:r>
            <a:r>
              <a:rPr lang="en-US" b="1" i="1"/>
              <a:t>et seq</a:t>
            </a:r>
          </a:p>
          <a:p>
            <a:pPr marL="0" indent="0">
              <a:buNone/>
            </a:pPr>
            <a:endParaRPr lang="en-US" b="1"/>
          </a:p>
          <a:p>
            <a:pPr marL="0" indent="0">
              <a:buNone/>
            </a:pPr>
            <a:r>
              <a:rPr lang="en-US" b="1"/>
              <a:t>This presentation includes discussion of some important parts of the statutes, but does not include everything in the statutes</a:t>
            </a:r>
          </a:p>
        </p:txBody>
      </p:sp>
    </p:spTree>
    <p:extLst>
      <p:ext uri="{BB962C8B-B14F-4D97-AF65-F5344CB8AC3E}">
        <p14:creationId xmlns:p14="http://schemas.microsoft.com/office/powerpoint/2010/main" val="200837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   Three Discrete Topics of Discussion</a:t>
            </a:r>
          </a:p>
        </p:txBody>
      </p:sp>
      <p:sp>
        <p:nvSpPr>
          <p:cNvPr id="3" name="Content Placeholder 2"/>
          <p:cNvSpPr>
            <a:spLocks noGrp="1"/>
          </p:cNvSpPr>
          <p:nvPr>
            <p:ph idx="1"/>
          </p:nvPr>
        </p:nvSpPr>
        <p:spPr>
          <a:xfrm>
            <a:off x="862886" y="2047742"/>
            <a:ext cx="9186968" cy="4200658"/>
          </a:xfrm>
        </p:spPr>
        <p:txBody>
          <a:bodyPr/>
          <a:lstStyle/>
          <a:p>
            <a:pPr marL="0" indent="0">
              <a:buNone/>
            </a:pPr>
            <a:endParaRPr lang="en-US"/>
          </a:p>
          <a:p>
            <a:pPr marL="457200" indent="-457200">
              <a:buAutoNum type="arabicPeriod"/>
            </a:pPr>
            <a:r>
              <a:rPr lang="en-US" sz="2400" b="1"/>
              <a:t>Traditional Application Process (revised, eff. 4/11/21)</a:t>
            </a:r>
          </a:p>
          <a:p>
            <a:pPr marL="457200" indent="-457200">
              <a:buAutoNum type="arabicPeriod"/>
            </a:pPr>
            <a:endParaRPr lang="en-US" sz="2400" b="1"/>
          </a:p>
          <a:p>
            <a:pPr marL="457200" indent="-457200">
              <a:buAutoNum type="arabicPeriod"/>
            </a:pPr>
            <a:r>
              <a:rPr lang="en-US" sz="2400" b="1"/>
              <a:t>Misdemeanor Marijuana Set-Asides (new, eff. 4/11/21)</a:t>
            </a:r>
          </a:p>
          <a:p>
            <a:pPr marL="457200" indent="-457200">
              <a:buAutoNum type="arabicPeriod"/>
            </a:pPr>
            <a:endParaRPr lang="en-US" sz="2400" b="1"/>
          </a:p>
          <a:p>
            <a:pPr marL="457200" indent="-457200">
              <a:buAutoNum type="arabicPeriod"/>
            </a:pPr>
            <a:r>
              <a:rPr lang="en-US" sz="2400" b="1"/>
              <a:t>Automatic Set-Aside Process (new, eff. late 2022 or later)</a:t>
            </a:r>
          </a:p>
        </p:txBody>
      </p:sp>
    </p:spTree>
    <p:extLst>
      <p:ext uri="{BB962C8B-B14F-4D97-AF65-F5344CB8AC3E}">
        <p14:creationId xmlns:p14="http://schemas.microsoft.com/office/powerpoint/2010/main" val="3783657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 All Three Topics, What Is </a:t>
            </a:r>
            <a:r>
              <a:rPr lang="en-US" b="1" i="1"/>
              <a:t>NOT</a:t>
            </a:r>
            <a:r>
              <a:rPr lang="en-US"/>
              <a:t> Accomplished by a Set-Aside</a:t>
            </a:r>
          </a:p>
        </p:txBody>
      </p:sp>
      <p:sp>
        <p:nvSpPr>
          <p:cNvPr id="3" name="Content Placeholder 2"/>
          <p:cNvSpPr>
            <a:spLocks noGrp="1"/>
          </p:cNvSpPr>
          <p:nvPr>
            <p:ph idx="1"/>
          </p:nvPr>
        </p:nvSpPr>
        <p:spPr>
          <a:xfrm>
            <a:off x="875201" y="2271859"/>
            <a:ext cx="8946541" cy="4195481"/>
          </a:xfrm>
        </p:spPr>
        <p:txBody>
          <a:bodyPr>
            <a:normAutofit fontScale="77500" lnSpcReduction="20000"/>
          </a:bodyPr>
          <a:lstStyle/>
          <a:p>
            <a:pPr marL="0" indent="0">
              <a:buNone/>
            </a:pPr>
            <a:endParaRPr lang="en-US" sz="2600" b="1"/>
          </a:p>
          <a:p>
            <a:pPr marL="0" indent="0">
              <a:buNone/>
            </a:pPr>
            <a:r>
              <a:rPr lang="en-US" sz="2600" b="1"/>
              <a:t>When a conviction is set aside, a NON-PUBLIC RECORD is still available to the governor, prosecutors, law enforcement, the courts, judicial licensing, etc., for specified purposes</a:t>
            </a:r>
          </a:p>
          <a:p>
            <a:pPr marL="0" indent="0">
              <a:buNone/>
            </a:pPr>
            <a:endParaRPr lang="en-US" b="1"/>
          </a:p>
          <a:p>
            <a:pPr marL="0" indent="0">
              <a:buNone/>
            </a:pPr>
            <a:r>
              <a:rPr lang="en-US" sz="2600" b="1"/>
              <a:t>No return of fines, costs and assessments already paid</a:t>
            </a:r>
          </a:p>
          <a:p>
            <a:pPr marL="0" indent="0">
              <a:buNone/>
            </a:pPr>
            <a:endParaRPr lang="en-US" sz="2600" b="1"/>
          </a:p>
          <a:p>
            <a:pPr marL="0" indent="0">
              <a:buNone/>
            </a:pPr>
            <a:r>
              <a:rPr lang="en-US" sz="2600" b="1"/>
              <a:t>Defendant must still pay restitution (if there is outstanding balance)</a:t>
            </a:r>
          </a:p>
          <a:p>
            <a:pPr marL="0" indent="0">
              <a:buNone/>
            </a:pPr>
            <a:endParaRPr lang="en-US" sz="2600" b="1"/>
          </a:p>
          <a:p>
            <a:pPr marL="0" indent="0">
              <a:buNone/>
            </a:pPr>
            <a:r>
              <a:rPr lang="en-US" sz="2600" b="1"/>
              <a:t>Conviction is still available for most sentence enhancement purposes and for future sentencing decisions for crimes with a maximum penalty of more than one year</a:t>
            </a:r>
          </a:p>
          <a:p>
            <a:pPr marL="0" indent="0">
              <a:buNone/>
            </a:pPr>
            <a:endParaRPr lang="en-US" b="1"/>
          </a:p>
          <a:p>
            <a:pPr marL="0" indent="0">
              <a:buNone/>
            </a:pPr>
            <a:endParaRPr lang="en-US"/>
          </a:p>
        </p:txBody>
      </p:sp>
    </p:spTree>
    <p:extLst>
      <p:ext uri="{BB962C8B-B14F-4D97-AF65-F5344CB8AC3E}">
        <p14:creationId xmlns:p14="http://schemas.microsoft.com/office/powerpoint/2010/main" val="1825994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t>
            </a:r>
            <a:br>
              <a:rPr lang="en-US"/>
            </a:br>
            <a:r>
              <a:rPr lang="en-US"/>
              <a:t>               Adult Convictions</a:t>
            </a:r>
          </a:p>
        </p:txBody>
      </p:sp>
      <p:sp>
        <p:nvSpPr>
          <p:cNvPr id="3" name="Content Placeholder 2"/>
          <p:cNvSpPr>
            <a:spLocks noGrp="1"/>
          </p:cNvSpPr>
          <p:nvPr>
            <p:ph idx="1"/>
          </p:nvPr>
        </p:nvSpPr>
        <p:spPr>
          <a:xfrm>
            <a:off x="755583" y="2130191"/>
            <a:ext cx="8946541" cy="4195481"/>
          </a:xfrm>
        </p:spPr>
        <p:txBody>
          <a:bodyPr>
            <a:normAutofit/>
          </a:bodyPr>
          <a:lstStyle/>
          <a:p>
            <a:pPr marL="0" indent="0">
              <a:buNone/>
            </a:pPr>
            <a:endParaRPr lang="en-US"/>
          </a:p>
          <a:p>
            <a:pPr marL="0" indent="0">
              <a:buNone/>
            </a:pPr>
            <a:endParaRPr lang="en-US" sz="2800"/>
          </a:p>
          <a:p>
            <a:pPr marL="0" indent="0">
              <a:buNone/>
            </a:pPr>
            <a:r>
              <a:rPr lang="en-US" sz="2800"/>
              <a:t>  Set Aside for </a:t>
            </a:r>
            <a:r>
              <a:rPr lang="en-US" sz="3200" b="1"/>
              <a:t>Adult</a:t>
            </a:r>
            <a:r>
              <a:rPr lang="en-US" sz="2800"/>
              <a:t> Convictions:</a:t>
            </a:r>
            <a:r>
              <a:rPr lang="en-US" sz="2400"/>
              <a:t> </a:t>
            </a:r>
            <a:r>
              <a:rPr lang="en-US" sz="2400" b="1"/>
              <a:t>MCL 780.621</a:t>
            </a:r>
            <a:r>
              <a:rPr lang="en-US" sz="2400"/>
              <a:t> </a:t>
            </a:r>
            <a:r>
              <a:rPr lang="en-US" sz="2400" b="1" i="1"/>
              <a:t>et seq</a:t>
            </a:r>
          </a:p>
          <a:p>
            <a:pPr marL="0" indent="0">
              <a:buNone/>
            </a:pPr>
            <a:r>
              <a:rPr lang="en-US" sz="2400" i="1"/>
              <a:t>  (as amended by 2020 Public Acts 187, 188, 190, 191, 193)</a:t>
            </a:r>
          </a:p>
          <a:p>
            <a:pPr marL="0" indent="0">
              <a:buNone/>
            </a:pPr>
            <a:endParaRPr lang="en-US" sz="2800"/>
          </a:p>
          <a:p>
            <a:pPr marL="0" indent="0">
              <a:buNone/>
            </a:pPr>
            <a:r>
              <a:rPr lang="en-US"/>
              <a:t>	</a:t>
            </a:r>
          </a:p>
          <a:p>
            <a:pPr marL="0" indent="0">
              <a:buNone/>
            </a:pPr>
            <a:r>
              <a:rPr lang="en-US"/>
              <a:t>	Note:  To set aside juvenile adjudications,  see MCL 712A.18e, 	effective July 3, 2021, 2020 PA 361</a:t>
            </a:r>
            <a:endParaRPr lang="en-US" i="1"/>
          </a:p>
        </p:txBody>
      </p:sp>
    </p:spTree>
    <p:extLst>
      <p:ext uri="{BB962C8B-B14F-4D97-AF65-F5344CB8AC3E}">
        <p14:creationId xmlns:p14="http://schemas.microsoft.com/office/powerpoint/2010/main" val="2624940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Adults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200" b="1"/>
              <a:t>Who Is Eligible </a:t>
            </a:r>
            <a:endParaRPr lang="en-US" b="1"/>
          </a:p>
          <a:p>
            <a:pPr marL="0" indent="0">
              <a:buNone/>
            </a:pPr>
            <a:endParaRPr lang="en-US" sz="3200"/>
          </a:p>
          <a:p>
            <a:pPr>
              <a:buFont typeface="Wingdings" panose="05000000000000000000" pitchFamily="2" charset="2"/>
              <a:buChar char="v"/>
            </a:pPr>
            <a:r>
              <a:rPr lang="en-US" sz="3200" b="1"/>
              <a:t>Ineligible Offenses</a:t>
            </a:r>
          </a:p>
          <a:p>
            <a:pPr marL="0" indent="0">
              <a:buNone/>
            </a:pPr>
            <a:endParaRPr lang="en-US" sz="3200"/>
          </a:p>
          <a:p>
            <a:pPr>
              <a:buFont typeface="Wingdings" panose="05000000000000000000" pitchFamily="2" charset="2"/>
              <a:buChar char="v"/>
            </a:pPr>
            <a:r>
              <a:rPr lang="en-US" sz="3200" b="1"/>
              <a:t>Waiting Period</a:t>
            </a:r>
          </a:p>
          <a:p>
            <a:pPr marL="0" indent="0">
              <a:buNone/>
            </a:pPr>
            <a:endParaRPr lang="en-US" sz="3200"/>
          </a:p>
          <a:p>
            <a:pPr marL="0" indent="0">
              <a:buNone/>
            </a:pPr>
            <a:endParaRPr lang="en-US"/>
          </a:p>
        </p:txBody>
      </p:sp>
    </p:spTree>
    <p:extLst>
      <p:ext uri="{BB962C8B-B14F-4D97-AF65-F5344CB8AC3E}">
        <p14:creationId xmlns:p14="http://schemas.microsoft.com/office/powerpoint/2010/main" val="116925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Adults</a:t>
            </a: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US" sz="3200" b="1"/>
              <a:t>Who Is Eligible </a:t>
            </a:r>
          </a:p>
          <a:p>
            <a:pPr marL="0" indent="0">
              <a:buNone/>
            </a:pPr>
            <a:r>
              <a:rPr lang="en-US" sz="3200" b="1"/>
              <a:t>		-Number of Felony Convictions</a:t>
            </a:r>
          </a:p>
          <a:p>
            <a:pPr marL="914400" lvl="2" indent="0">
              <a:buNone/>
            </a:pPr>
            <a:r>
              <a:rPr lang="en-US" sz="2800" b="1"/>
              <a:t>-Subdivisions b and c</a:t>
            </a:r>
          </a:p>
          <a:p>
            <a:pPr marL="0" indent="0">
              <a:buNone/>
            </a:pPr>
            <a:r>
              <a:rPr lang="en-US" sz="3200" b="1"/>
              <a:t>		-Same Transaction Rule</a:t>
            </a:r>
            <a:endParaRPr lang="en-US" b="1"/>
          </a:p>
          <a:p>
            <a:pPr marL="0" indent="0">
              <a:buNone/>
            </a:pPr>
            <a:endParaRPr lang="en-US" sz="3200"/>
          </a:p>
          <a:p>
            <a:pPr>
              <a:buFont typeface="Wingdings" panose="05000000000000000000" pitchFamily="2" charset="2"/>
              <a:buChar char="v"/>
            </a:pPr>
            <a:r>
              <a:rPr lang="en-US" sz="3200" b="1"/>
              <a:t>Ineligible Offenses</a:t>
            </a:r>
          </a:p>
          <a:p>
            <a:pPr marL="0" indent="0">
              <a:buNone/>
            </a:pPr>
            <a:endParaRPr lang="en-US" sz="3200"/>
          </a:p>
          <a:p>
            <a:pPr>
              <a:buFont typeface="Wingdings" panose="05000000000000000000" pitchFamily="2" charset="2"/>
              <a:buChar char="v"/>
            </a:pPr>
            <a:r>
              <a:rPr lang="en-US" sz="3200" b="1"/>
              <a:t>Waiting Period</a:t>
            </a:r>
          </a:p>
          <a:p>
            <a:pPr marL="0" indent="0">
              <a:buNone/>
            </a:pPr>
            <a:endParaRPr lang="en-US" sz="3200"/>
          </a:p>
          <a:p>
            <a:pPr marL="0" indent="0">
              <a:buNone/>
            </a:pPr>
            <a:endParaRPr lang="en-US"/>
          </a:p>
        </p:txBody>
      </p:sp>
    </p:spTree>
    <p:extLst>
      <p:ext uri="{BB962C8B-B14F-4D97-AF65-F5344CB8AC3E}">
        <p14:creationId xmlns:p14="http://schemas.microsoft.com/office/powerpoint/2010/main" val="1008277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Traditional Application:  Who Is Eligible to Set Aside a Conviction?</a:t>
            </a:r>
          </a:p>
        </p:txBody>
      </p:sp>
      <p:sp>
        <p:nvSpPr>
          <p:cNvPr id="3" name="Content Placeholder 2"/>
          <p:cNvSpPr>
            <a:spLocks noGrp="1"/>
          </p:cNvSpPr>
          <p:nvPr>
            <p:ph idx="1"/>
          </p:nvPr>
        </p:nvSpPr>
        <p:spPr/>
        <p:txBody>
          <a:bodyPr/>
          <a:lstStyle/>
          <a:p>
            <a:pPr marL="0" indent="0">
              <a:buNone/>
            </a:pPr>
            <a:endParaRPr lang="en-US" b="1"/>
          </a:p>
          <a:p>
            <a:pPr marL="0" indent="0">
              <a:buNone/>
            </a:pPr>
            <a:endParaRPr lang="en-US" b="1"/>
          </a:p>
          <a:p>
            <a:pPr marL="0" indent="0">
              <a:buNone/>
            </a:pPr>
            <a:r>
              <a:rPr lang="en-US" b="1"/>
              <a:t>PRE-2011, could have only one conviction and one set-aside</a:t>
            </a:r>
          </a:p>
          <a:p>
            <a:pPr marL="0" indent="0">
              <a:buNone/>
            </a:pPr>
            <a:endParaRPr lang="en-US" b="1"/>
          </a:p>
          <a:p>
            <a:pPr marL="0" indent="0">
              <a:buNone/>
            </a:pPr>
            <a:r>
              <a:rPr lang="en-US" b="1"/>
              <a:t>JUNE 2011, could set aside one conviction even if had two additional “minor offense“ convictions</a:t>
            </a:r>
          </a:p>
          <a:p>
            <a:pPr marL="0" indent="0">
              <a:buNone/>
            </a:pPr>
            <a:endParaRPr lang="en-US" b="1"/>
          </a:p>
          <a:p>
            <a:pPr marL="0" indent="0">
              <a:buNone/>
            </a:pPr>
            <a:r>
              <a:rPr lang="en-US" b="1"/>
              <a:t>JANUARY 2015, could set aside one felony or two misdemeanors</a:t>
            </a:r>
          </a:p>
          <a:p>
            <a:endParaRPr lang="en-US"/>
          </a:p>
        </p:txBody>
      </p:sp>
    </p:spTree>
    <p:extLst>
      <p:ext uri="{BB962C8B-B14F-4D97-AF65-F5344CB8AC3E}">
        <p14:creationId xmlns:p14="http://schemas.microsoft.com/office/powerpoint/2010/main" val="349280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Traditional Application:  Who Is Eligible to Set Aside A Conviction?</a:t>
            </a:r>
          </a:p>
        </p:txBody>
      </p:sp>
      <p:sp>
        <p:nvSpPr>
          <p:cNvPr id="3" name="Content Placeholder 2"/>
          <p:cNvSpPr>
            <a:spLocks noGrp="1"/>
          </p:cNvSpPr>
          <p:nvPr>
            <p:ph idx="1"/>
          </p:nvPr>
        </p:nvSpPr>
        <p:spPr/>
        <p:txBody>
          <a:bodyPr>
            <a:normAutofit fontScale="85000" lnSpcReduction="20000"/>
          </a:bodyPr>
          <a:lstStyle/>
          <a:p>
            <a:pPr marL="0" indent="0">
              <a:buNone/>
            </a:pPr>
            <a:endParaRPr lang="en-US" b="1"/>
          </a:p>
          <a:p>
            <a:pPr marL="0" indent="0">
              <a:buNone/>
            </a:pPr>
            <a:r>
              <a:rPr lang="en-US" b="1"/>
              <a:t>Effective April 11, 2021</a:t>
            </a:r>
          </a:p>
          <a:p>
            <a:pPr marL="0" indent="0">
              <a:buNone/>
            </a:pPr>
            <a:endParaRPr lang="en-US" b="1"/>
          </a:p>
          <a:p>
            <a:pPr marL="0" indent="0">
              <a:buNone/>
            </a:pPr>
            <a:r>
              <a:rPr lang="en-US" sz="3500" b="1" i="1"/>
              <a:t>“Except as provided in subdivisions (b) and (c), a person convicted of 1 or more criminal offenses, </a:t>
            </a:r>
            <a:r>
              <a:rPr lang="en-US" sz="3500" b="1" i="1" u="sng"/>
              <a:t>but not more than a total of 3 felony offenses</a:t>
            </a:r>
            <a:r>
              <a:rPr lang="en-US" sz="3500" b="1" i="1"/>
              <a:t>, in this state, may apply to have all of his or her convictions from this state set aside.” </a:t>
            </a:r>
            <a:r>
              <a:rPr lang="en-US" sz="2100" b="1" i="1"/>
              <a:t>[MCL 780.621, emphasis supplied]</a:t>
            </a:r>
          </a:p>
          <a:p>
            <a:pPr marL="0" indent="0">
              <a:buNone/>
            </a:pPr>
            <a:endParaRPr lang="en-US" sz="2800" b="1"/>
          </a:p>
          <a:p>
            <a:pPr marL="0" indent="0">
              <a:buNone/>
            </a:pPr>
            <a:r>
              <a:rPr lang="en-US" sz="2800" b="1"/>
              <a:t>Person with Four or More Felonies </a:t>
            </a:r>
            <a:r>
              <a:rPr lang="en-US" sz="2800" b="1" i="1" u="sng"/>
              <a:t>Is</a:t>
            </a:r>
            <a:r>
              <a:rPr lang="en-US" sz="2800" b="1" u="sng"/>
              <a:t> </a:t>
            </a:r>
            <a:r>
              <a:rPr lang="en-US" sz="2800" b="1" i="1" u="sng"/>
              <a:t>Ineligible</a:t>
            </a:r>
            <a:r>
              <a:rPr lang="en-US" sz="2800" b="1"/>
              <a:t> for Any Relief</a:t>
            </a:r>
          </a:p>
        </p:txBody>
      </p:sp>
    </p:spTree>
    <p:extLst>
      <p:ext uri="{BB962C8B-B14F-4D97-AF65-F5344CB8AC3E}">
        <p14:creationId xmlns:p14="http://schemas.microsoft.com/office/powerpoint/2010/main" val="861252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Traditional Application:  Who Is Eligible </a:t>
            </a:r>
            <a:r>
              <a:rPr lang="en-US" sz="3200"/>
              <a:t>(MCL 780.621, subdivisions b and c)</a:t>
            </a:r>
          </a:p>
        </p:txBody>
      </p:sp>
      <p:sp>
        <p:nvSpPr>
          <p:cNvPr id="3" name="Content Placeholder 2"/>
          <p:cNvSpPr>
            <a:spLocks noGrp="1"/>
          </p:cNvSpPr>
          <p:nvPr>
            <p:ph idx="1"/>
          </p:nvPr>
        </p:nvSpPr>
        <p:spPr/>
        <p:txBody>
          <a:bodyPr/>
          <a:lstStyle/>
          <a:p>
            <a:pPr marL="0" indent="0">
              <a:buNone/>
            </a:pPr>
            <a:endParaRPr lang="en-US"/>
          </a:p>
          <a:p>
            <a:pPr marL="0" indent="0">
              <a:buNone/>
            </a:pPr>
            <a:r>
              <a:rPr lang="en-US" b="1"/>
              <a:t>General Rule:  Person with Not More Than Three Felony Convictions</a:t>
            </a:r>
          </a:p>
          <a:p>
            <a:pPr marL="0" indent="0">
              <a:buNone/>
            </a:pPr>
            <a:endParaRPr lang="en-US" b="1"/>
          </a:p>
          <a:p>
            <a:pPr marL="0" indent="0">
              <a:buNone/>
            </a:pPr>
            <a:r>
              <a:rPr lang="en-US" b="1"/>
              <a:t>Subdivision b:	“An applicant may not have more than a total of 2  convictions for an assaultive crime set aside under this act during his or her lifetime.” (“assaultive crime” is defined in MCL 780.621)</a:t>
            </a:r>
          </a:p>
          <a:p>
            <a:pPr marL="0" indent="0">
              <a:buNone/>
            </a:pPr>
            <a:endParaRPr lang="en-US" b="1"/>
          </a:p>
          <a:p>
            <a:pPr marL="0" indent="0">
              <a:buNone/>
            </a:pPr>
            <a:r>
              <a:rPr lang="en-US" b="1"/>
              <a:t>Subdivision c:  “An applicant may not have more than 1 felony conviction for the same offense set aside under this section if the offense is punishable by more than 10 years imprisonment.”</a:t>
            </a:r>
          </a:p>
        </p:txBody>
      </p:sp>
    </p:spTree>
    <p:extLst>
      <p:ext uri="{BB962C8B-B14F-4D97-AF65-F5344CB8AC3E}">
        <p14:creationId xmlns:p14="http://schemas.microsoft.com/office/powerpoint/2010/main" val="3104479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Traditional Application:  Who Is Eligible</a:t>
            </a:r>
          </a:p>
        </p:txBody>
      </p:sp>
      <p:sp>
        <p:nvSpPr>
          <p:cNvPr id="3" name="Content Placeholder 2"/>
          <p:cNvSpPr>
            <a:spLocks noGrp="1"/>
          </p:cNvSpPr>
          <p:nvPr>
            <p:ph idx="1"/>
          </p:nvPr>
        </p:nvSpPr>
        <p:spPr/>
        <p:txBody>
          <a:bodyPr/>
          <a:lstStyle/>
          <a:p>
            <a:pPr marL="0" indent="0">
              <a:buNone/>
            </a:pPr>
            <a:endParaRPr lang="en-US"/>
          </a:p>
          <a:p>
            <a:pPr marL="0" indent="0">
              <a:buNone/>
            </a:pPr>
            <a:r>
              <a:rPr lang="en-US" sz="3600" b="1"/>
              <a:t>What If the Person Has Five Felony Convictions, But Three Arose From the Same Transaction?</a:t>
            </a:r>
          </a:p>
        </p:txBody>
      </p:sp>
    </p:spTree>
    <p:extLst>
      <p:ext uri="{BB962C8B-B14F-4D97-AF65-F5344CB8AC3E}">
        <p14:creationId xmlns:p14="http://schemas.microsoft.com/office/powerpoint/2010/main" val="1895610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Traditional Application: Same Transaction  or “One Bad Night” Rule</a:t>
            </a:r>
            <a:br>
              <a:rPr lang="en-US" sz="3600"/>
            </a:br>
            <a:endParaRPr lang="en-US" sz="3600"/>
          </a:p>
        </p:txBody>
      </p:sp>
      <p:sp>
        <p:nvSpPr>
          <p:cNvPr id="3" name="Content Placeholder 2"/>
          <p:cNvSpPr>
            <a:spLocks noGrp="1"/>
          </p:cNvSpPr>
          <p:nvPr>
            <p:ph idx="1"/>
          </p:nvPr>
        </p:nvSpPr>
        <p:spPr/>
        <p:txBody>
          <a:bodyPr>
            <a:normAutofit fontScale="92500"/>
          </a:bodyPr>
          <a:lstStyle/>
          <a:p>
            <a:pPr marL="0" indent="0">
              <a:buNone/>
            </a:pPr>
            <a:r>
              <a:rPr lang="en-US"/>
              <a:t>New MCL 780.621b treats multiple contemporaneous offenses as one if:</a:t>
            </a:r>
          </a:p>
          <a:p>
            <a:pPr marL="0" indent="0">
              <a:buNone/>
            </a:pPr>
            <a:endParaRPr lang="en-US"/>
          </a:p>
          <a:p>
            <a:pPr>
              <a:buFont typeface="Wingdings" panose="05000000000000000000" pitchFamily="2" charset="2"/>
              <a:buChar char="v"/>
            </a:pPr>
            <a:r>
              <a:rPr lang="en-US" sz="3200" b="1"/>
              <a:t>Committed During Same Transaction, and</a:t>
            </a:r>
          </a:p>
          <a:p>
            <a:pPr marL="0" indent="0">
              <a:buNone/>
            </a:pPr>
            <a:endParaRPr lang="en-US" sz="3200" b="1"/>
          </a:p>
          <a:p>
            <a:pPr>
              <a:buFont typeface="Wingdings" panose="05000000000000000000" pitchFamily="2" charset="2"/>
              <a:buChar char="v"/>
            </a:pPr>
            <a:r>
              <a:rPr lang="en-US" sz="3200" b="1"/>
              <a:t>Within Twenty-Four Hours</a:t>
            </a:r>
          </a:p>
          <a:p>
            <a:pPr marL="0" indent="0">
              <a:buNone/>
            </a:pPr>
            <a:endParaRPr lang="en-US"/>
          </a:p>
          <a:p>
            <a:pPr marL="0" indent="0">
              <a:buNone/>
            </a:pPr>
            <a:r>
              <a:rPr lang="en-US" sz="2400" b="1" i="1"/>
              <a:t>Multiple felony convictions will be treated as one felony</a:t>
            </a:r>
            <a:r>
              <a:rPr lang="en-US" sz="2400" b="1"/>
              <a:t>, and </a:t>
            </a:r>
            <a:r>
              <a:rPr lang="en-US" sz="2400" b="1" i="1"/>
              <a:t>multiple misdemeanor convictions will be treated as one misdemeanor, if the rule is satisfied</a:t>
            </a:r>
          </a:p>
        </p:txBody>
      </p:sp>
    </p:spTree>
    <p:extLst>
      <p:ext uri="{BB962C8B-B14F-4D97-AF65-F5344CB8AC3E}">
        <p14:creationId xmlns:p14="http://schemas.microsoft.com/office/powerpoint/2010/main" val="2635277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Same Transaction Rule Does Not Apply to</a:t>
            </a:r>
          </a:p>
        </p:txBody>
      </p:sp>
      <p:sp>
        <p:nvSpPr>
          <p:cNvPr id="3" name="Content Placeholder 2"/>
          <p:cNvSpPr>
            <a:spLocks noGrp="1"/>
          </p:cNvSpPr>
          <p:nvPr>
            <p:ph idx="1"/>
          </p:nvPr>
        </p:nvSpPr>
        <p:spPr/>
        <p:txBody>
          <a:bodyPr>
            <a:normAutofit lnSpcReduction="10000"/>
          </a:bodyPr>
          <a:lstStyle/>
          <a:p>
            <a:pPr marL="0" indent="0">
              <a:buNone/>
            </a:pPr>
            <a:endParaRPr lang="en-US"/>
          </a:p>
          <a:p>
            <a:pPr>
              <a:buFont typeface="Wingdings" panose="05000000000000000000" pitchFamily="2" charset="2"/>
              <a:buChar char="v"/>
            </a:pPr>
            <a:r>
              <a:rPr lang="en-US" sz="2800" b="1"/>
              <a:t>Assaultive Crime (including out of state convictions)</a:t>
            </a:r>
          </a:p>
          <a:p>
            <a:pPr marL="0" indent="0">
              <a:buNone/>
            </a:pPr>
            <a:endParaRPr lang="en-US" sz="2800" b="1"/>
          </a:p>
          <a:p>
            <a:pPr>
              <a:buFont typeface="Wingdings" panose="05000000000000000000" pitchFamily="2" charset="2"/>
              <a:buChar char="v"/>
            </a:pPr>
            <a:r>
              <a:rPr lang="en-US" sz="2800" b="1"/>
              <a:t>Crime Involving Use or Possession of Dangerous Weapon</a:t>
            </a:r>
          </a:p>
          <a:p>
            <a:pPr marL="0" indent="0">
              <a:buNone/>
            </a:pPr>
            <a:endParaRPr lang="en-US" sz="2800" b="1"/>
          </a:p>
          <a:p>
            <a:pPr>
              <a:buFont typeface="Wingdings" panose="05000000000000000000" pitchFamily="2" charset="2"/>
              <a:buChar char="v"/>
            </a:pPr>
            <a:r>
              <a:rPr lang="en-US" sz="2800" b="1"/>
              <a:t>Crime with Maximum Penalty of Ten Years or More</a:t>
            </a:r>
          </a:p>
          <a:p>
            <a:pPr marL="0" indent="0">
              <a:buNone/>
            </a:pPr>
            <a:endParaRPr lang="en-US"/>
          </a:p>
          <a:p>
            <a:pPr marL="0" indent="0">
              <a:buNone/>
            </a:pPr>
            <a:endParaRPr lang="en-US"/>
          </a:p>
        </p:txBody>
      </p:sp>
    </p:spTree>
    <p:extLst>
      <p:ext uri="{BB962C8B-B14F-4D97-AF65-F5344CB8AC3E}">
        <p14:creationId xmlns:p14="http://schemas.microsoft.com/office/powerpoint/2010/main" val="85145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This Person Set Aside </a:t>
            </a:r>
            <a:r>
              <a:rPr lang="en-US" b="1"/>
              <a:t>FIVE</a:t>
            </a:r>
            <a:r>
              <a:rPr lang="en-US"/>
              <a:t> Felony Convictions?</a:t>
            </a:r>
          </a:p>
        </p:txBody>
      </p:sp>
      <p:sp>
        <p:nvSpPr>
          <p:cNvPr id="3" name="Content Placeholder 2"/>
          <p:cNvSpPr>
            <a:spLocks noGrp="1"/>
          </p:cNvSpPr>
          <p:nvPr>
            <p:ph idx="1"/>
          </p:nvPr>
        </p:nvSpPr>
        <p:spPr/>
        <p:txBody>
          <a:bodyPr>
            <a:normAutofit fontScale="70000" lnSpcReduction="20000"/>
          </a:bodyPr>
          <a:lstStyle/>
          <a:p>
            <a:endParaRPr lang="en-US"/>
          </a:p>
          <a:p>
            <a:pPr marL="0" indent="0">
              <a:buNone/>
            </a:pPr>
            <a:r>
              <a:rPr lang="en-US" sz="3200" b="1"/>
              <a:t>One Larceny in Building (1980)</a:t>
            </a:r>
          </a:p>
          <a:p>
            <a:pPr marL="0" indent="0">
              <a:buNone/>
            </a:pPr>
            <a:r>
              <a:rPr lang="en-US" sz="3200" b="1"/>
              <a:t>One Retail Fraud 1</a:t>
            </a:r>
            <a:r>
              <a:rPr lang="en-US" sz="3200" b="1" baseline="30000"/>
              <a:t>st </a:t>
            </a:r>
            <a:r>
              <a:rPr lang="en-US" sz="3200" b="1"/>
              <a:t>(1990) </a:t>
            </a:r>
          </a:p>
          <a:p>
            <a:pPr marL="0" indent="0">
              <a:buNone/>
            </a:pPr>
            <a:r>
              <a:rPr lang="en-US" sz="3200" b="1"/>
              <a:t>Three Unlawful Driving Away Auto </a:t>
            </a:r>
            <a:r>
              <a:rPr lang="en-US" sz="2900" b="1"/>
              <a:t>(2010) </a:t>
            </a:r>
            <a:r>
              <a:rPr lang="en-US" sz="2300" b="1"/>
              <a:t>(arose from SAME TRANSACTION)</a:t>
            </a:r>
          </a:p>
          <a:p>
            <a:pPr marL="0" indent="0">
              <a:buNone/>
            </a:pPr>
            <a:endParaRPr lang="en-US" sz="3200" b="1"/>
          </a:p>
          <a:p>
            <a:pPr marL="0" indent="0">
              <a:buNone/>
            </a:pPr>
            <a:r>
              <a:rPr lang="en-US" sz="3200" b="1"/>
              <a:t>*Unlawful Driving Away Auto Is Not Assaultive Crime</a:t>
            </a:r>
          </a:p>
          <a:p>
            <a:pPr marL="0" indent="0">
              <a:buNone/>
            </a:pPr>
            <a:endParaRPr lang="en-US" sz="3200" b="1"/>
          </a:p>
          <a:p>
            <a:pPr marL="0" indent="0">
              <a:buNone/>
            </a:pPr>
            <a:r>
              <a:rPr lang="en-US" sz="3200" b="1"/>
              <a:t>*Unlawful Driving Away Auto Has 5-Year Maximum Penalty</a:t>
            </a:r>
          </a:p>
          <a:p>
            <a:pPr marL="0" indent="0">
              <a:buNone/>
            </a:pPr>
            <a:endParaRPr lang="en-US" sz="3200" b="1"/>
          </a:p>
          <a:p>
            <a:pPr marL="0" indent="0">
              <a:buNone/>
            </a:pPr>
            <a:r>
              <a:rPr lang="en-US" sz="3200" b="1"/>
              <a:t>Answer is YES </a:t>
            </a:r>
            <a:r>
              <a:rPr lang="en-US" sz="2300"/>
              <a:t>(would count as three felonies &amp; no violation of subdivisions b or c)</a:t>
            </a:r>
            <a:endParaRPr lang="en-US" sz="2300" b="1"/>
          </a:p>
        </p:txBody>
      </p:sp>
    </p:spTree>
    <p:extLst>
      <p:ext uri="{BB962C8B-B14F-4D97-AF65-F5344CB8AC3E}">
        <p14:creationId xmlns:p14="http://schemas.microsoft.com/office/powerpoint/2010/main" val="358938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This Person Set Aside His/Her </a:t>
            </a:r>
            <a:br>
              <a:rPr lang="en-US"/>
            </a:br>
            <a:r>
              <a:rPr lang="en-US"/>
              <a:t>Five Felony Convictions?</a:t>
            </a:r>
          </a:p>
        </p:txBody>
      </p:sp>
      <p:sp>
        <p:nvSpPr>
          <p:cNvPr id="3" name="Content Placeholder 2"/>
          <p:cNvSpPr>
            <a:spLocks noGrp="1"/>
          </p:cNvSpPr>
          <p:nvPr>
            <p:ph idx="1"/>
          </p:nvPr>
        </p:nvSpPr>
        <p:spPr/>
        <p:txBody>
          <a:bodyPr>
            <a:normAutofit fontScale="70000" lnSpcReduction="20000"/>
          </a:bodyPr>
          <a:lstStyle/>
          <a:p>
            <a:endParaRPr lang="en-US"/>
          </a:p>
          <a:p>
            <a:pPr marL="0" indent="0">
              <a:buNone/>
            </a:pPr>
            <a:r>
              <a:rPr lang="en-US" sz="3200" b="1"/>
              <a:t>Larceny in Building (1980)</a:t>
            </a:r>
          </a:p>
          <a:p>
            <a:pPr marL="0" indent="0">
              <a:buNone/>
            </a:pPr>
            <a:r>
              <a:rPr lang="en-US" sz="3200" b="1"/>
              <a:t>Retail Fraud 1</a:t>
            </a:r>
            <a:r>
              <a:rPr lang="en-US" sz="3200" b="1" baseline="30000"/>
              <a:t>st </a:t>
            </a:r>
            <a:r>
              <a:rPr lang="en-US" sz="3200" b="1"/>
              <a:t>(1990) </a:t>
            </a:r>
          </a:p>
          <a:p>
            <a:pPr marL="0" indent="0">
              <a:buNone/>
            </a:pPr>
            <a:r>
              <a:rPr lang="en-US" sz="3200" b="1"/>
              <a:t>Three </a:t>
            </a:r>
            <a:r>
              <a:rPr lang="en-US" sz="3200" b="1" i="1" u="sng"/>
              <a:t>Unarmed Robberies</a:t>
            </a:r>
            <a:r>
              <a:rPr lang="en-US" sz="3200" b="1"/>
              <a:t> (2010) (arose from same transaction)</a:t>
            </a:r>
          </a:p>
          <a:p>
            <a:pPr marL="0" indent="0">
              <a:buNone/>
            </a:pPr>
            <a:endParaRPr lang="en-US" sz="3200" b="1"/>
          </a:p>
          <a:p>
            <a:pPr marL="0" indent="0">
              <a:buNone/>
            </a:pPr>
            <a:r>
              <a:rPr lang="en-US" sz="3200" b="1"/>
              <a:t>Unarmed Robbery Is Assaultive Crime</a:t>
            </a:r>
          </a:p>
          <a:p>
            <a:pPr marL="0" indent="0">
              <a:buNone/>
            </a:pPr>
            <a:endParaRPr lang="en-US" sz="3200" b="1"/>
          </a:p>
          <a:p>
            <a:pPr marL="0" indent="0">
              <a:buNone/>
            </a:pPr>
            <a:r>
              <a:rPr lang="en-US" sz="3200" b="1"/>
              <a:t>Unarmed Robbery Has 15-Year Maximum</a:t>
            </a:r>
          </a:p>
          <a:p>
            <a:pPr marL="0" indent="0">
              <a:buNone/>
            </a:pPr>
            <a:endParaRPr lang="en-US" sz="3200" b="1"/>
          </a:p>
          <a:p>
            <a:pPr marL="0" indent="0">
              <a:buNone/>
            </a:pPr>
            <a:r>
              <a:rPr lang="en-US" sz="3200" b="1"/>
              <a:t>Answer is No </a:t>
            </a:r>
            <a:r>
              <a:rPr lang="en-US" sz="2300"/>
              <a:t>(would count as five felonies &amp; also violates subdivisions b and c)</a:t>
            </a:r>
            <a:endParaRPr lang="en-US" sz="2300" b="1"/>
          </a:p>
        </p:txBody>
      </p:sp>
    </p:spTree>
    <p:extLst>
      <p:ext uri="{BB962C8B-B14F-4D97-AF65-F5344CB8AC3E}">
        <p14:creationId xmlns:p14="http://schemas.microsoft.com/office/powerpoint/2010/main" val="337371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Adults</a:t>
            </a: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US" sz="3200" b="1"/>
              <a:t>Who Is Eligible </a:t>
            </a:r>
          </a:p>
          <a:p>
            <a:pPr marL="0" indent="0">
              <a:buNone/>
            </a:pPr>
            <a:r>
              <a:rPr lang="en-US" sz="3200" b="1"/>
              <a:t>		-Number of Felony Convictions</a:t>
            </a:r>
          </a:p>
          <a:p>
            <a:pPr marL="914400" lvl="2" indent="0">
              <a:buNone/>
            </a:pPr>
            <a:r>
              <a:rPr lang="en-US" sz="2800" b="1"/>
              <a:t>-Subdivisions b and c</a:t>
            </a:r>
          </a:p>
          <a:p>
            <a:pPr marL="0" indent="0">
              <a:buNone/>
            </a:pPr>
            <a:r>
              <a:rPr lang="en-US" sz="3200" b="1"/>
              <a:t>		-Same Transaction Rule</a:t>
            </a:r>
            <a:endParaRPr lang="en-US" b="1"/>
          </a:p>
          <a:p>
            <a:pPr marL="0" indent="0">
              <a:buNone/>
            </a:pPr>
            <a:endParaRPr lang="en-US" sz="3200"/>
          </a:p>
          <a:p>
            <a:pPr>
              <a:buFont typeface="Wingdings" panose="05000000000000000000" pitchFamily="2" charset="2"/>
              <a:buChar char="v"/>
            </a:pPr>
            <a:r>
              <a:rPr lang="en-US" sz="3200" b="1"/>
              <a:t>Ineligible Offenses (LET’S DISCUSS THIS)</a:t>
            </a:r>
          </a:p>
          <a:p>
            <a:pPr marL="0" indent="0">
              <a:buNone/>
            </a:pPr>
            <a:endParaRPr lang="en-US" sz="3200"/>
          </a:p>
          <a:p>
            <a:pPr>
              <a:buFont typeface="Wingdings" panose="05000000000000000000" pitchFamily="2" charset="2"/>
              <a:buChar char="v"/>
            </a:pPr>
            <a:r>
              <a:rPr lang="en-US" sz="3200" b="1"/>
              <a:t>Waiting Period</a:t>
            </a:r>
          </a:p>
          <a:p>
            <a:pPr marL="0" indent="0">
              <a:buNone/>
            </a:pPr>
            <a:endParaRPr lang="en-US" sz="3200"/>
          </a:p>
          <a:p>
            <a:pPr marL="0" indent="0">
              <a:buNone/>
            </a:pPr>
            <a:endParaRPr lang="en-US"/>
          </a:p>
        </p:txBody>
      </p:sp>
    </p:spTree>
    <p:extLst>
      <p:ext uri="{BB962C8B-B14F-4D97-AF65-F5344CB8AC3E}">
        <p14:creationId xmlns:p14="http://schemas.microsoft.com/office/powerpoint/2010/main" val="1629558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   Traditional Application: Ineligible Offenses </a:t>
            </a:r>
          </a:p>
        </p:txBody>
      </p:sp>
      <p:sp>
        <p:nvSpPr>
          <p:cNvPr id="3" name="Content Placeholder 2"/>
          <p:cNvSpPr>
            <a:spLocks noGrp="1"/>
          </p:cNvSpPr>
          <p:nvPr>
            <p:ph idx="1"/>
          </p:nvPr>
        </p:nvSpPr>
        <p:spPr/>
        <p:txBody>
          <a:bodyPr/>
          <a:lstStyle/>
          <a:p>
            <a:pPr marL="0" indent="0">
              <a:buNone/>
            </a:pPr>
            <a:r>
              <a:rPr lang="en-US" sz="2400"/>
              <a:t>Assuming the Individual Meets the General Test of Not More Than Three Felony Convictions and No Violation of Subdivisions (b) or (c)</a:t>
            </a:r>
          </a:p>
          <a:p>
            <a:pPr marL="0" indent="0">
              <a:buNone/>
            </a:pPr>
            <a:endParaRPr lang="en-US"/>
          </a:p>
          <a:p>
            <a:pPr marL="0" indent="0">
              <a:buNone/>
            </a:pPr>
            <a:r>
              <a:rPr lang="en-US" sz="2800" b="1"/>
              <a:t>Are There Offenses That Cannot Be Expunged? </a:t>
            </a:r>
          </a:p>
          <a:p>
            <a:pPr marL="0" indent="0">
              <a:buNone/>
            </a:pPr>
            <a:endParaRPr lang="en-US" sz="2800" b="1"/>
          </a:p>
          <a:p>
            <a:pPr marL="0" indent="0">
              <a:buNone/>
            </a:pPr>
            <a:r>
              <a:rPr lang="en-US" sz="2800" b="1"/>
              <a:t>YES, SOME OFFENSES ARE INELIGIBLE OFFENSES</a:t>
            </a:r>
          </a:p>
        </p:txBody>
      </p:sp>
    </p:spTree>
    <p:extLst>
      <p:ext uri="{BB962C8B-B14F-4D97-AF65-F5344CB8AC3E}">
        <p14:creationId xmlns:p14="http://schemas.microsoft.com/office/powerpoint/2010/main" val="3122767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t>Traditional Application:  Ineligible Offenses, MCL 780.621c</a:t>
            </a:r>
          </a:p>
        </p:txBody>
      </p:sp>
      <p:sp>
        <p:nvSpPr>
          <p:cNvPr id="3" name="Content Placeholder 2"/>
          <p:cNvSpPr>
            <a:spLocks noGrp="1"/>
          </p:cNvSpPr>
          <p:nvPr>
            <p:ph idx="1"/>
          </p:nvPr>
        </p:nvSpPr>
        <p:spPr/>
        <p:txBody>
          <a:bodyPr>
            <a:normAutofit fontScale="92500" lnSpcReduction="20000"/>
          </a:bodyPr>
          <a:lstStyle/>
          <a:p>
            <a:pPr marL="0" indent="0">
              <a:buNone/>
            </a:pPr>
            <a:endParaRPr lang="en-US"/>
          </a:p>
          <a:p>
            <a:pPr>
              <a:buFont typeface="Wingdings" panose="05000000000000000000" pitchFamily="2" charset="2"/>
              <a:buChar char="v"/>
            </a:pPr>
            <a:r>
              <a:rPr lang="en-US" sz="2400" b="1"/>
              <a:t>No Crimes with LIFE Maximum Penalty (and Attempts)</a:t>
            </a:r>
          </a:p>
          <a:p>
            <a:pPr marL="0" indent="0">
              <a:buNone/>
            </a:pPr>
            <a:endParaRPr lang="en-US" sz="2400" b="1"/>
          </a:p>
          <a:p>
            <a:pPr>
              <a:buFont typeface="Wingdings" panose="05000000000000000000" pitchFamily="2" charset="2"/>
              <a:buChar char="v"/>
            </a:pPr>
            <a:r>
              <a:rPr lang="en-US" sz="2400" b="1"/>
              <a:t>No Felony Child Abuse and Most Sex Crimes (and Attempts)</a:t>
            </a:r>
          </a:p>
          <a:p>
            <a:pPr>
              <a:buFont typeface="Wingdings" panose="05000000000000000000" pitchFamily="2" charset="2"/>
              <a:buChar char="v"/>
            </a:pPr>
            <a:endParaRPr lang="en-US" sz="2400" b="1"/>
          </a:p>
          <a:p>
            <a:pPr>
              <a:buFont typeface="Wingdings" panose="05000000000000000000" pitchFamily="2" charset="2"/>
              <a:buChar char="v"/>
            </a:pPr>
            <a:r>
              <a:rPr lang="en-US" sz="2400" b="1"/>
              <a:t>No Felony Domestic Violence, if have Misdemeanor DV</a:t>
            </a:r>
          </a:p>
          <a:p>
            <a:pPr>
              <a:buFont typeface="Wingdings" panose="05000000000000000000" pitchFamily="2" charset="2"/>
              <a:buChar char="v"/>
            </a:pPr>
            <a:endParaRPr lang="en-US" sz="2400" b="1"/>
          </a:p>
          <a:p>
            <a:pPr>
              <a:buFont typeface="Wingdings" panose="05000000000000000000" pitchFamily="2" charset="2"/>
              <a:buChar char="v"/>
            </a:pPr>
            <a:r>
              <a:rPr lang="en-US" sz="2400" b="1"/>
              <a:t>No Human Trafficking under MCL 750.462i or 462j</a:t>
            </a:r>
          </a:p>
          <a:p>
            <a:pPr>
              <a:buFont typeface="Wingdings" panose="05000000000000000000" pitchFamily="2" charset="2"/>
              <a:buChar char="v"/>
            </a:pPr>
            <a:endParaRPr lang="en-US" sz="2400" b="1"/>
          </a:p>
          <a:p>
            <a:pPr>
              <a:buFont typeface="Wingdings" panose="05000000000000000000" pitchFamily="2" charset="2"/>
              <a:buChar char="v"/>
            </a:pPr>
            <a:r>
              <a:rPr lang="en-US" sz="2400" b="1"/>
              <a:t>No for Select Traffic Offenses</a:t>
            </a:r>
          </a:p>
          <a:p>
            <a:pPr>
              <a:buFont typeface="Wingdings" panose="05000000000000000000" pitchFamily="2" charset="2"/>
              <a:buChar char="v"/>
            </a:pPr>
            <a:endParaRPr lang="en-US" sz="2400" b="1"/>
          </a:p>
          <a:p>
            <a:endParaRPr lang="en-US"/>
          </a:p>
          <a:p>
            <a:endParaRPr lang="en-US"/>
          </a:p>
          <a:p>
            <a:endParaRPr lang="en-US"/>
          </a:p>
        </p:txBody>
      </p:sp>
    </p:spTree>
    <p:extLst>
      <p:ext uri="{BB962C8B-B14F-4D97-AF65-F5344CB8AC3E}">
        <p14:creationId xmlns:p14="http://schemas.microsoft.com/office/powerpoint/2010/main" val="3511936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t>Traditional Application:  Ineligible TRAFFIC Offenses</a:t>
            </a:r>
          </a:p>
        </p:txBody>
      </p:sp>
      <p:sp>
        <p:nvSpPr>
          <p:cNvPr id="3" name="Content Placeholder 2"/>
          <p:cNvSpPr>
            <a:spLocks noGrp="1"/>
          </p:cNvSpPr>
          <p:nvPr>
            <p:ph idx="1"/>
          </p:nvPr>
        </p:nvSpPr>
        <p:spPr/>
        <p:txBody>
          <a:bodyPr>
            <a:normAutofit/>
          </a:bodyPr>
          <a:lstStyle/>
          <a:p>
            <a:pPr marL="0" indent="0">
              <a:buNone/>
            </a:pPr>
            <a:r>
              <a:rPr lang="en-US"/>
              <a:t>Traffic Offenses May Now Be Set Aside under MCL 780.621c, Except the Following Traffic Offenses </a:t>
            </a:r>
            <a:r>
              <a:rPr lang="en-US" b="1" i="1" u="sng"/>
              <a:t>ARE INELIGIBLE</a:t>
            </a:r>
            <a:r>
              <a:rPr lang="en-US"/>
              <a:t>:</a:t>
            </a:r>
          </a:p>
          <a:p>
            <a:pPr marL="0" indent="0">
              <a:buNone/>
            </a:pPr>
            <a:endParaRPr lang="en-US"/>
          </a:p>
          <a:p>
            <a:pPr>
              <a:buFont typeface="Wingdings" panose="05000000000000000000" pitchFamily="2" charset="2"/>
              <a:buChar char="v"/>
            </a:pPr>
            <a:r>
              <a:rPr lang="en-US" sz="2400" b="1"/>
              <a:t>Operating While Intoxicated (OWI)</a:t>
            </a:r>
            <a:r>
              <a:rPr lang="en-US" sz="2400"/>
              <a:t> (although pending bill may change this)</a:t>
            </a:r>
            <a:endParaRPr lang="en-US" sz="2400" b="1"/>
          </a:p>
          <a:p>
            <a:pPr marL="0" indent="0">
              <a:buNone/>
            </a:pPr>
            <a:endParaRPr lang="en-US" sz="2400" b="1"/>
          </a:p>
          <a:p>
            <a:pPr>
              <a:buFont typeface="Wingdings" panose="05000000000000000000" pitchFamily="2" charset="2"/>
              <a:buChar char="v"/>
            </a:pPr>
            <a:r>
              <a:rPr lang="en-US" sz="2400" b="1"/>
              <a:t>Traffic Offenses Causing Injury or Death</a:t>
            </a:r>
          </a:p>
          <a:p>
            <a:pPr marL="0" indent="0">
              <a:buNone/>
            </a:pPr>
            <a:endParaRPr lang="en-US" sz="2400" b="1"/>
          </a:p>
          <a:p>
            <a:pPr>
              <a:buFont typeface="Wingdings" panose="05000000000000000000" pitchFamily="2" charset="2"/>
              <a:buChar char="v"/>
            </a:pPr>
            <a:r>
              <a:rPr lang="en-US" sz="2400" b="1"/>
              <a:t>Commercial Motor Vehicle Traffic Offense</a:t>
            </a:r>
          </a:p>
        </p:txBody>
      </p:sp>
    </p:spTree>
    <p:extLst>
      <p:ext uri="{BB962C8B-B14F-4D97-AF65-F5344CB8AC3E}">
        <p14:creationId xmlns:p14="http://schemas.microsoft.com/office/powerpoint/2010/main" val="125751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Is this Person Eligible to Set Aside These Three Convictions?</a:t>
            </a:r>
          </a:p>
        </p:txBody>
      </p:sp>
      <p:sp>
        <p:nvSpPr>
          <p:cNvPr id="3" name="Content Placeholder 2"/>
          <p:cNvSpPr>
            <a:spLocks noGrp="1"/>
          </p:cNvSpPr>
          <p:nvPr>
            <p:ph idx="1"/>
          </p:nvPr>
        </p:nvSpPr>
        <p:spPr/>
        <p:txBody>
          <a:bodyPr/>
          <a:lstStyle/>
          <a:p>
            <a:pPr marL="0" indent="0">
              <a:buNone/>
            </a:pPr>
            <a:r>
              <a:rPr lang="en-US"/>
              <a:t>One FELONY Conviction for </a:t>
            </a:r>
            <a:r>
              <a:rPr lang="en-US" b="1" i="1" u="sng"/>
              <a:t>CARJACKING</a:t>
            </a:r>
            <a:r>
              <a:rPr lang="en-US" b="1" i="1"/>
              <a:t> </a:t>
            </a:r>
            <a:r>
              <a:rPr lang="en-US" i="1"/>
              <a:t>(1990)</a:t>
            </a:r>
            <a:r>
              <a:rPr lang="en-US"/>
              <a:t>, One MISDEMEANOR for </a:t>
            </a:r>
            <a:r>
              <a:rPr lang="en-US" b="1" i="1" u="sng"/>
              <a:t>OPERATING WHILE INTOXICATED</a:t>
            </a:r>
            <a:r>
              <a:rPr lang="en-US" b="1" i="1"/>
              <a:t> </a:t>
            </a:r>
            <a:r>
              <a:rPr lang="en-US" i="1"/>
              <a:t>(2010),</a:t>
            </a:r>
            <a:r>
              <a:rPr lang="en-US"/>
              <a:t> and One MISDEMEANOR   for </a:t>
            </a:r>
            <a:r>
              <a:rPr lang="en-US" b="1" u="sng"/>
              <a:t>DRIVING WITH SUSPENDED LICENSE</a:t>
            </a:r>
            <a:r>
              <a:rPr lang="en-US" b="1"/>
              <a:t> </a:t>
            </a:r>
            <a:r>
              <a:rPr lang="en-US"/>
              <a:t>(2014)</a:t>
            </a:r>
            <a:endParaRPr lang="en-US" b="1"/>
          </a:p>
          <a:p>
            <a:pPr marL="0" indent="0">
              <a:buNone/>
            </a:pPr>
            <a:endParaRPr lang="en-US"/>
          </a:p>
          <a:p>
            <a:pPr marL="0" indent="0">
              <a:buNone/>
            </a:pPr>
            <a:r>
              <a:rPr lang="en-US" b="1"/>
              <a:t>NO:  Carjacking (life maximum penalty)</a:t>
            </a:r>
          </a:p>
          <a:p>
            <a:pPr marL="0" indent="0">
              <a:buNone/>
            </a:pPr>
            <a:endParaRPr lang="en-US" b="1"/>
          </a:p>
          <a:p>
            <a:pPr marL="0" indent="0">
              <a:buNone/>
            </a:pPr>
            <a:r>
              <a:rPr lang="en-US" b="1"/>
              <a:t>NO:  OWI (ineligible traffic offense)</a:t>
            </a:r>
          </a:p>
          <a:p>
            <a:pPr marL="0" indent="0">
              <a:buNone/>
            </a:pPr>
            <a:endParaRPr lang="en-US" b="1"/>
          </a:p>
          <a:p>
            <a:pPr marL="0" indent="0">
              <a:buNone/>
            </a:pPr>
            <a:r>
              <a:rPr lang="en-US" b="1"/>
              <a:t>YES:  Driving While License Suspended (unless death, injury or </a:t>
            </a:r>
          </a:p>
          <a:p>
            <a:pPr marL="0" indent="0">
              <a:buNone/>
            </a:pPr>
            <a:r>
              <a:rPr lang="en-US" b="1"/>
              <a:t>         commercial motor vehicle offense)</a:t>
            </a:r>
          </a:p>
        </p:txBody>
      </p:sp>
    </p:spTree>
    <p:extLst>
      <p:ext uri="{BB962C8B-B14F-4D97-AF65-F5344CB8AC3E}">
        <p14:creationId xmlns:p14="http://schemas.microsoft.com/office/powerpoint/2010/main" val="41388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Adults</a:t>
            </a:r>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v"/>
            </a:pPr>
            <a:r>
              <a:rPr lang="en-US" sz="3200" b="1"/>
              <a:t>Who Is Eligible </a:t>
            </a:r>
          </a:p>
          <a:p>
            <a:pPr marL="0" indent="0">
              <a:buNone/>
            </a:pPr>
            <a:r>
              <a:rPr lang="en-US" sz="3200" b="1"/>
              <a:t>		-Number of Felony Convictions</a:t>
            </a:r>
          </a:p>
          <a:p>
            <a:pPr marL="914400" lvl="2" indent="0">
              <a:buNone/>
            </a:pPr>
            <a:r>
              <a:rPr lang="en-US" sz="2800" b="1"/>
              <a:t>-Subdivisions b and c</a:t>
            </a:r>
          </a:p>
          <a:p>
            <a:pPr marL="0" indent="0">
              <a:buNone/>
            </a:pPr>
            <a:r>
              <a:rPr lang="en-US" sz="3200" b="1"/>
              <a:t>		-Same Transaction Rule</a:t>
            </a:r>
            <a:endParaRPr lang="en-US" b="1"/>
          </a:p>
          <a:p>
            <a:pPr marL="0" indent="0">
              <a:buNone/>
            </a:pPr>
            <a:endParaRPr lang="en-US" sz="3200"/>
          </a:p>
          <a:p>
            <a:pPr>
              <a:buFont typeface="Wingdings" panose="05000000000000000000" pitchFamily="2" charset="2"/>
              <a:buChar char="v"/>
            </a:pPr>
            <a:r>
              <a:rPr lang="en-US" sz="3200" b="1"/>
              <a:t>Ineligible Offenses (Life, most sex, felony DV, etc.)</a:t>
            </a:r>
          </a:p>
          <a:p>
            <a:pPr marL="0" indent="0">
              <a:buNone/>
            </a:pPr>
            <a:endParaRPr lang="en-US" sz="3200"/>
          </a:p>
          <a:p>
            <a:pPr>
              <a:buFont typeface="Wingdings" panose="05000000000000000000" pitchFamily="2" charset="2"/>
              <a:buChar char="v"/>
            </a:pPr>
            <a:r>
              <a:rPr lang="en-US" sz="3200" b="1"/>
              <a:t>Waiting Period  (LET’S DISCUSS THIS)</a:t>
            </a:r>
          </a:p>
          <a:p>
            <a:pPr marL="0" indent="0">
              <a:buNone/>
            </a:pPr>
            <a:endParaRPr lang="en-US" sz="3200"/>
          </a:p>
          <a:p>
            <a:pPr marL="0" indent="0">
              <a:buNone/>
            </a:pPr>
            <a:endParaRPr lang="en-US"/>
          </a:p>
        </p:txBody>
      </p:sp>
    </p:spTree>
    <p:extLst>
      <p:ext uri="{BB962C8B-B14F-4D97-AF65-F5344CB8AC3E}">
        <p14:creationId xmlns:p14="http://schemas.microsoft.com/office/powerpoint/2010/main" val="919633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Traditional Application:  New Waiting Periods under MCL 780.621d</a:t>
            </a:r>
          </a:p>
        </p:txBody>
      </p:sp>
      <p:sp>
        <p:nvSpPr>
          <p:cNvPr id="3" name="Content Placeholder 2"/>
          <p:cNvSpPr>
            <a:spLocks noGrp="1"/>
          </p:cNvSpPr>
          <p:nvPr>
            <p:ph idx="1"/>
          </p:nvPr>
        </p:nvSpPr>
        <p:spPr/>
        <p:txBody>
          <a:bodyPr>
            <a:normAutofit fontScale="92500" lnSpcReduction="10000"/>
          </a:bodyPr>
          <a:lstStyle/>
          <a:p>
            <a:pPr marL="0" indent="0">
              <a:buNone/>
            </a:pPr>
            <a:endParaRPr lang="en-US"/>
          </a:p>
          <a:p>
            <a:pPr marL="0" indent="0">
              <a:buNone/>
            </a:pPr>
            <a:r>
              <a:rPr lang="en-US" sz="2200" b="1"/>
              <a:t>Two or More Felony Convictions</a:t>
            </a:r>
            <a:r>
              <a:rPr lang="en-US"/>
              <a:t>:						</a:t>
            </a:r>
            <a:r>
              <a:rPr lang="en-US" b="1"/>
              <a:t>SEVEN YEARS</a:t>
            </a:r>
          </a:p>
          <a:p>
            <a:pPr marL="0" indent="0">
              <a:buNone/>
            </a:pPr>
            <a:endParaRPr lang="en-US" b="1"/>
          </a:p>
          <a:p>
            <a:pPr marL="0" indent="0">
              <a:buNone/>
            </a:pPr>
            <a:r>
              <a:rPr lang="en-US" b="1"/>
              <a:t>One Felony or One or More Serious Misdemeanors</a:t>
            </a:r>
            <a:r>
              <a:rPr lang="en-US"/>
              <a:t>:		</a:t>
            </a:r>
            <a:r>
              <a:rPr lang="en-US" b="1"/>
              <a:t>FIVE YEARS</a:t>
            </a:r>
          </a:p>
          <a:p>
            <a:pPr marL="0" indent="0">
              <a:buNone/>
            </a:pPr>
            <a:endParaRPr lang="en-US" b="1"/>
          </a:p>
          <a:p>
            <a:pPr marL="0" indent="0">
              <a:buNone/>
            </a:pPr>
            <a:r>
              <a:rPr lang="en-US" sz="2200" b="1"/>
              <a:t>One or More Non-Serious Misdemeanors</a:t>
            </a:r>
            <a:r>
              <a:rPr lang="en-US"/>
              <a:t>:			</a:t>
            </a:r>
            <a:r>
              <a:rPr lang="en-US" b="1"/>
              <a:t>THREE YEARS</a:t>
            </a:r>
          </a:p>
          <a:p>
            <a:pPr marL="0" indent="0">
              <a:buNone/>
            </a:pPr>
            <a:endParaRPr lang="en-US" b="1"/>
          </a:p>
          <a:p>
            <a:pPr marL="0" indent="0">
              <a:buNone/>
            </a:pPr>
            <a:endParaRPr lang="en-US" b="1"/>
          </a:p>
          <a:p>
            <a:pPr marL="0" indent="0">
              <a:buNone/>
            </a:pPr>
            <a:r>
              <a:rPr lang="en-US" b="1"/>
              <a:t>*</a:t>
            </a:r>
            <a:r>
              <a:rPr lang="en-US"/>
              <a:t>Serious misdemeanor is defined in MCL 780.621 and MCL 780.811</a:t>
            </a:r>
          </a:p>
          <a:p>
            <a:pPr marL="0" indent="0">
              <a:buNone/>
            </a:pPr>
            <a:endParaRPr lang="en-US" sz="1700"/>
          </a:p>
          <a:p>
            <a:pPr marL="0" indent="0">
              <a:buNone/>
            </a:pPr>
            <a:r>
              <a:rPr lang="en-US" sz="1700" b="1"/>
              <a:t>*</a:t>
            </a:r>
            <a:r>
              <a:rPr lang="en-US" sz="1500"/>
              <a:t>No waiting period for marijuana misdemeanor set asides &amp; some human trafficking victims</a:t>
            </a:r>
            <a:endParaRPr lang="en-US" sz="1500" b="1"/>
          </a:p>
        </p:txBody>
      </p:sp>
    </p:spTree>
    <p:extLst>
      <p:ext uri="{BB962C8B-B14F-4D97-AF65-F5344CB8AC3E}">
        <p14:creationId xmlns:p14="http://schemas.microsoft.com/office/powerpoint/2010/main" val="35191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Traditional Application:  When Does the Waiting Period Start?</a:t>
            </a:r>
          </a:p>
        </p:txBody>
      </p:sp>
      <p:sp>
        <p:nvSpPr>
          <p:cNvPr id="3" name="Content Placeholder 2"/>
          <p:cNvSpPr>
            <a:spLocks noGrp="1"/>
          </p:cNvSpPr>
          <p:nvPr>
            <p:ph idx="1"/>
          </p:nvPr>
        </p:nvSpPr>
        <p:spPr/>
        <p:txBody>
          <a:bodyPr/>
          <a:lstStyle/>
          <a:p>
            <a:pPr marL="0" indent="0">
              <a:buNone/>
            </a:pPr>
            <a:endParaRPr lang="en-US"/>
          </a:p>
          <a:p>
            <a:pPr marL="0" indent="0">
              <a:buNone/>
            </a:pPr>
            <a:r>
              <a:rPr lang="en-US" sz="2800"/>
              <a:t>From the last of the following events:</a:t>
            </a:r>
          </a:p>
          <a:p>
            <a:pPr marL="0" indent="0">
              <a:buNone/>
            </a:pPr>
            <a:endParaRPr lang="en-US"/>
          </a:p>
          <a:p>
            <a:pPr marL="457200" indent="-457200">
              <a:buAutoNum type="arabicPeriod"/>
            </a:pPr>
            <a:r>
              <a:rPr lang="en-US" sz="3600" b="1"/>
              <a:t>Imposition of sentence</a:t>
            </a:r>
          </a:p>
          <a:p>
            <a:pPr marL="457200" indent="-457200">
              <a:buAutoNum type="arabicPeriod"/>
            </a:pPr>
            <a:r>
              <a:rPr lang="en-US" sz="3600" b="1"/>
              <a:t>Completion of probation</a:t>
            </a:r>
          </a:p>
          <a:p>
            <a:pPr marL="457200" indent="-457200">
              <a:buAutoNum type="arabicPeriod"/>
            </a:pPr>
            <a:r>
              <a:rPr lang="en-US" sz="3600" b="1"/>
              <a:t>Completion of imprisonment</a:t>
            </a:r>
          </a:p>
          <a:p>
            <a:pPr marL="457200" indent="-457200">
              <a:buAutoNum type="arabicPeriod"/>
            </a:pPr>
            <a:r>
              <a:rPr lang="en-US" sz="3600" b="1"/>
              <a:t>Completion of parole</a:t>
            </a:r>
          </a:p>
          <a:p>
            <a:pPr marL="457200" indent="-457200">
              <a:buAutoNum type="arabicPeriod"/>
            </a:pPr>
            <a:endParaRPr lang="en-US"/>
          </a:p>
        </p:txBody>
      </p:sp>
    </p:spTree>
    <p:extLst>
      <p:ext uri="{BB962C8B-B14F-4D97-AF65-F5344CB8AC3E}">
        <p14:creationId xmlns:p14="http://schemas.microsoft.com/office/powerpoint/2010/main" val="3185830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Traditional Application:  No New Conviction or Pending Charges</a:t>
            </a:r>
          </a:p>
        </p:txBody>
      </p:sp>
      <p:sp>
        <p:nvSpPr>
          <p:cNvPr id="3" name="Content Placeholder 2"/>
          <p:cNvSpPr>
            <a:spLocks noGrp="1"/>
          </p:cNvSpPr>
          <p:nvPr>
            <p:ph idx="1"/>
          </p:nvPr>
        </p:nvSpPr>
        <p:spPr/>
        <p:txBody>
          <a:bodyPr>
            <a:normAutofit fontScale="77500" lnSpcReduction="20000"/>
          </a:bodyPr>
          <a:lstStyle/>
          <a:p>
            <a:pPr marL="0" indent="0">
              <a:buNone/>
            </a:pPr>
            <a:endParaRPr lang="en-US"/>
          </a:p>
          <a:p>
            <a:pPr marL="0" indent="0">
              <a:buNone/>
            </a:pPr>
            <a:r>
              <a:rPr lang="en-US" sz="2800"/>
              <a:t>A court may not set aside a conviction if:</a:t>
            </a:r>
            <a:endParaRPr lang="en-US" sz="4000" b="1"/>
          </a:p>
          <a:p>
            <a:pPr marL="0" indent="0">
              <a:buNone/>
            </a:pPr>
            <a:endParaRPr lang="en-US" sz="4000" b="1"/>
          </a:p>
          <a:p>
            <a:pPr>
              <a:buFont typeface="Wingdings" panose="05000000000000000000" pitchFamily="2" charset="2"/>
              <a:buChar char="v"/>
            </a:pPr>
            <a:r>
              <a:rPr lang="en-US" sz="4000" b="1"/>
              <a:t>The applicant has pending</a:t>
            </a:r>
            <a:r>
              <a:rPr lang="en-US" sz="4000" b="1" i="1"/>
              <a:t> </a:t>
            </a:r>
            <a:r>
              <a:rPr lang="en-US" sz="4000" b="1"/>
              <a:t>criminal charges</a:t>
            </a:r>
          </a:p>
          <a:p>
            <a:pPr marL="0" indent="0">
              <a:buNone/>
            </a:pPr>
            <a:endParaRPr lang="en-US" sz="2800" b="1"/>
          </a:p>
          <a:p>
            <a:pPr>
              <a:buFont typeface="Wingdings" panose="05000000000000000000" pitchFamily="2" charset="2"/>
              <a:buChar char="v"/>
            </a:pPr>
            <a:r>
              <a:rPr lang="en-US" sz="4000" b="1"/>
              <a:t>The applicant has a new conviction during the waiting period</a:t>
            </a:r>
          </a:p>
          <a:p>
            <a:pPr marL="0" indent="0">
              <a:buNone/>
            </a:pPr>
            <a:endParaRPr lang="en-US" sz="2800" b="1"/>
          </a:p>
          <a:p>
            <a:pPr marL="0" indent="0">
              <a:buNone/>
            </a:pPr>
            <a:r>
              <a:rPr lang="en-US"/>
              <a:t>MCL 780.621d</a:t>
            </a:r>
          </a:p>
        </p:txBody>
      </p:sp>
    </p:spTree>
    <p:extLst>
      <p:ext uri="{BB962C8B-B14F-4D97-AF65-F5344CB8AC3E}">
        <p14:creationId xmlns:p14="http://schemas.microsoft.com/office/powerpoint/2010/main" val="2305469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Traditional Application:  Wait Period Questions</a:t>
            </a:r>
          </a:p>
        </p:txBody>
      </p:sp>
      <p:sp>
        <p:nvSpPr>
          <p:cNvPr id="3" name="Content Placeholder 2"/>
          <p:cNvSpPr>
            <a:spLocks noGrp="1"/>
          </p:cNvSpPr>
          <p:nvPr>
            <p:ph idx="1"/>
          </p:nvPr>
        </p:nvSpPr>
        <p:spPr/>
        <p:txBody>
          <a:bodyPr>
            <a:normAutofit lnSpcReduction="10000"/>
          </a:bodyPr>
          <a:lstStyle/>
          <a:p>
            <a:pPr marL="0" indent="0">
              <a:buNone/>
            </a:pPr>
            <a:r>
              <a:rPr lang="en-US"/>
              <a:t>Does the Wait Period Begin at the End of Each Sentence or at the End of the Last Sentence for Multiple Offenses in the Same Category?</a:t>
            </a:r>
          </a:p>
          <a:p>
            <a:pPr marL="0" indent="0">
              <a:buNone/>
            </a:pPr>
            <a:endParaRPr lang="en-US"/>
          </a:p>
          <a:p>
            <a:pPr marL="0" indent="0">
              <a:buNone/>
            </a:pPr>
            <a:r>
              <a:rPr lang="en-US"/>
              <a:t>Statute provides:  </a:t>
            </a:r>
            <a:r>
              <a:rPr lang="en-US" sz="2400" b="1"/>
              <a:t>“An application . . . to set aside more than 1 felony conviction shall only be filed 7 or more years after whichever of the following events occurs last:  (a) Imposition of the sentence for the convictions . . . (b) Completion of any term of felony probation imposed for the convictions . . . (c) Discharge from parole for the convictions . . . (d) Completion of any term of imprisonment imposed for the convictions that the applicant seeks to set aside.”</a:t>
            </a:r>
            <a:r>
              <a:rPr lang="en-US"/>
              <a:t>   MCL 780.621d.  (Note use of plural “for the convictions”)</a:t>
            </a:r>
          </a:p>
        </p:txBody>
      </p:sp>
    </p:spTree>
    <p:extLst>
      <p:ext uri="{BB962C8B-B14F-4D97-AF65-F5344CB8AC3E}">
        <p14:creationId xmlns:p14="http://schemas.microsoft.com/office/powerpoint/2010/main" val="2528165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Traditional Application:  Wait Period Questions</a:t>
            </a:r>
          </a:p>
        </p:txBody>
      </p:sp>
      <p:sp>
        <p:nvSpPr>
          <p:cNvPr id="3" name="Content Placeholder 2"/>
          <p:cNvSpPr>
            <a:spLocks noGrp="1"/>
          </p:cNvSpPr>
          <p:nvPr>
            <p:ph idx="1"/>
          </p:nvPr>
        </p:nvSpPr>
        <p:spPr/>
        <p:txBody>
          <a:bodyPr>
            <a:normAutofit/>
          </a:bodyPr>
          <a:lstStyle/>
          <a:p>
            <a:pPr marL="0" indent="0">
              <a:buNone/>
            </a:pPr>
            <a:r>
              <a:rPr lang="en-US"/>
              <a:t>Can a Person Expunge Multiple Convictions if there Was a New Conviction After a Previous One?</a:t>
            </a:r>
          </a:p>
          <a:p>
            <a:pPr marL="0" indent="0">
              <a:buNone/>
            </a:pPr>
            <a:endParaRPr lang="en-US"/>
          </a:p>
          <a:p>
            <a:pPr marL="0" indent="0">
              <a:buNone/>
            </a:pPr>
            <a:r>
              <a:rPr lang="en-US" sz="4000" b="1"/>
              <a:t>“The applicant has not been convicted of any criminal offense during the applicable time period . . . .”</a:t>
            </a:r>
            <a:r>
              <a:rPr lang="en-US"/>
              <a:t>  </a:t>
            </a:r>
          </a:p>
          <a:p>
            <a:pPr marL="0" indent="0">
              <a:buNone/>
            </a:pPr>
            <a:r>
              <a:rPr lang="en-US"/>
              <a:t> MCL 780.621d.  (Note “during the applicable time period”)</a:t>
            </a:r>
          </a:p>
        </p:txBody>
      </p:sp>
    </p:spTree>
    <p:extLst>
      <p:ext uri="{BB962C8B-B14F-4D97-AF65-F5344CB8AC3E}">
        <p14:creationId xmlns:p14="http://schemas.microsoft.com/office/powerpoint/2010/main" val="1808903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Traditional Application:  Is this Person Eligible to File?</a:t>
            </a:r>
          </a:p>
        </p:txBody>
      </p:sp>
      <p:sp>
        <p:nvSpPr>
          <p:cNvPr id="3" name="Content Placeholder 2"/>
          <p:cNvSpPr>
            <a:spLocks noGrp="1"/>
          </p:cNvSpPr>
          <p:nvPr>
            <p:ph idx="1"/>
          </p:nvPr>
        </p:nvSpPr>
        <p:spPr/>
        <p:txBody>
          <a:bodyPr>
            <a:normAutofit fontScale="92500"/>
          </a:bodyPr>
          <a:lstStyle/>
          <a:p>
            <a:pPr marL="0" indent="0">
              <a:buNone/>
            </a:pPr>
            <a:endParaRPr lang="en-US"/>
          </a:p>
          <a:p>
            <a:pPr marL="0" indent="0">
              <a:buNone/>
            </a:pPr>
            <a:r>
              <a:rPr lang="en-US" b="1"/>
              <a:t>Larceny in a Building (felony), completed probation with no jail 1996</a:t>
            </a:r>
          </a:p>
          <a:p>
            <a:pPr marL="0" indent="0">
              <a:buNone/>
            </a:pPr>
            <a:endParaRPr lang="en-US" b="1"/>
          </a:p>
          <a:p>
            <a:pPr marL="0" indent="0">
              <a:buNone/>
            </a:pPr>
            <a:r>
              <a:rPr lang="en-US" b="1"/>
              <a:t>Retail Fraud First (felony), completed probation and jail 2005</a:t>
            </a:r>
          </a:p>
          <a:p>
            <a:pPr marL="0" indent="0">
              <a:buNone/>
            </a:pPr>
            <a:endParaRPr lang="en-US" b="1"/>
          </a:p>
          <a:p>
            <a:pPr marL="0" indent="0">
              <a:buNone/>
            </a:pPr>
            <a:r>
              <a:rPr lang="en-US" b="1"/>
              <a:t>Driving With Suspended License (non-serious misdemeanor), $200 fine 2013</a:t>
            </a:r>
          </a:p>
          <a:p>
            <a:pPr marL="0" indent="0">
              <a:buNone/>
            </a:pPr>
            <a:endParaRPr lang="en-US"/>
          </a:p>
          <a:p>
            <a:pPr marL="0" indent="0">
              <a:buNone/>
            </a:pPr>
            <a:endParaRPr lang="en-US"/>
          </a:p>
          <a:p>
            <a:pPr marL="0" indent="0">
              <a:buNone/>
            </a:pPr>
            <a:r>
              <a:rPr lang="en-US" sz="3200" b="1"/>
              <a:t>Probably YES</a:t>
            </a:r>
            <a:r>
              <a:rPr lang="en-US"/>
              <a:t> </a:t>
            </a:r>
            <a:r>
              <a:rPr lang="en-US" sz="1800"/>
              <a:t>(seven years between each felony, three years after the non-serious misdemeanor, but this assumes non-conservative reading of statute)</a:t>
            </a:r>
          </a:p>
          <a:p>
            <a:pPr marL="0" indent="0">
              <a:buNone/>
            </a:pPr>
            <a:endParaRPr lang="en-US"/>
          </a:p>
        </p:txBody>
      </p:sp>
    </p:spTree>
    <p:extLst>
      <p:ext uri="{BB962C8B-B14F-4D97-AF65-F5344CB8AC3E}">
        <p14:creationId xmlns:p14="http://schemas.microsoft.com/office/powerpoint/2010/main" val="187742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Traditional Applications for Adults</a:t>
            </a: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US" sz="3200" b="1"/>
              <a:t>Who Is Eligible </a:t>
            </a:r>
          </a:p>
          <a:p>
            <a:pPr marL="0" indent="0">
              <a:buNone/>
            </a:pPr>
            <a:r>
              <a:rPr lang="en-US" sz="3200" b="1"/>
              <a:t>		-Not More Than Three Felony Convictions</a:t>
            </a:r>
          </a:p>
          <a:p>
            <a:pPr marL="914400" lvl="2" indent="0">
              <a:buNone/>
            </a:pPr>
            <a:r>
              <a:rPr lang="en-US" sz="2800" b="1"/>
              <a:t>-No Violation of Subdivisions b and c</a:t>
            </a:r>
          </a:p>
          <a:p>
            <a:pPr marL="0" indent="0">
              <a:buNone/>
            </a:pPr>
            <a:r>
              <a:rPr lang="en-US" sz="3200" b="1"/>
              <a:t>		-Same Transaction Rule</a:t>
            </a:r>
            <a:endParaRPr lang="en-US" b="1"/>
          </a:p>
          <a:p>
            <a:pPr marL="0" indent="0">
              <a:buNone/>
            </a:pPr>
            <a:endParaRPr lang="en-US" sz="3200"/>
          </a:p>
          <a:p>
            <a:pPr>
              <a:buFont typeface="Wingdings" panose="05000000000000000000" pitchFamily="2" charset="2"/>
              <a:buChar char="v"/>
            </a:pPr>
            <a:r>
              <a:rPr lang="en-US" sz="3200" b="1"/>
              <a:t>Ineligible Offenses </a:t>
            </a:r>
            <a:r>
              <a:rPr lang="en-US" sz="2400" b="1"/>
              <a:t>(Life, sex, child abuse, DV, OWI etc.)</a:t>
            </a:r>
          </a:p>
          <a:p>
            <a:pPr marL="0" indent="0">
              <a:buNone/>
            </a:pPr>
            <a:endParaRPr lang="en-US" sz="3200"/>
          </a:p>
          <a:p>
            <a:pPr>
              <a:buFont typeface="Wingdings" panose="05000000000000000000" pitchFamily="2" charset="2"/>
              <a:buChar char="v"/>
            </a:pPr>
            <a:r>
              <a:rPr lang="en-US" sz="3200" b="1"/>
              <a:t>Waiting Period (seven, five and three years)</a:t>
            </a:r>
          </a:p>
          <a:p>
            <a:pPr marL="0" indent="0">
              <a:buNone/>
            </a:pPr>
            <a:endParaRPr lang="en-US" sz="3200"/>
          </a:p>
          <a:p>
            <a:pPr marL="0" indent="0">
              <a:buNone/>
            </a:pPr>
            <a:endParaRPr lang="en-US"/>
          </a:p>
        </p:txBody>
      </p:sp>
    </p:spTree>
    <p:extLst>
      <p:ext uri="{BB962C8B-B14F-4D97-AF65-F5344CB8AC3E}">
        <p14:creationId xmlns:p14="http://schemas.microsoft.com/office/powerpoint/2010/main" val="2417730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Misdemeanor Marijuana</a:t>
            </a:r>
            <a:br>
              <a:rPr lang="en-US" b="1"/>
            </a:br>
            <a:r>
              <a:rPr lang="en-US" b="1"/>
              <a:t>Set Asides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3327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a:t>Why Special Rules for Misdemeanor Marijuana</a:t>
            </a:r>
          </a:p>
        </p:txBody>
      </p:sp>
      <p:sp>
        <p:nvSpPr>
          <p:cNvPr id="3" name="Content Placeholder 2"/>
          <p:cNvSpPr>
            <a:spLocks noGrp="1"/>
          </p:cNvSpPr>
          <p:nvPr>
            <p:ph idx="1"/>
          </p:nvPr>
        </p:nvSpPr>
        <p:spPr/>
        <p:txBody>
          <a:bodyPr/>
          <a:lstStyle/>
          <a:p>
            <a:pPr marL="0" indent="0">
              <a:buNone/>
            </a:pPr>
            <a:endParaRPr lang="en-US"/>
          </a:p>
          <a:p>
            <a:pPr>
              <a:buFont typeface="Wingdings" panose="05000000000000000000" pitchFamily="2" charset="2"/>
              <a:buChar char="v"/>
            </a:pPr>
            <a:r>
              <a:rPr lang="en-US" sz="2800" b="1"/>
              <a:t>Recreational marijuana became legal in Michigan effective December 6, 2018</a:t>
            </a:r>
          </a:p>
          <a:p>
            <a:pPr marL="0" indent="0">
              <a:buNone/>
            </a:pPr>
            <a:endParaRPr lang="en-US" sz="2800" b="1"/>
          </a:p>
          <a:p>
            <a:pPr marL="0" indent="0">
              <a:buNone/>
            </a:pPr>
            <a:endParaRPr lang="en-US" sz="2800" b="1"/>
          </a:p>
          <a:p>
            <a:pPr>
              <a:buFont typeface="Wingdings" panose="05000000000000000000" pitchFamily="2" charset="2"/>
              <a:buChar char="v"/>
            </a:pPr>
            <a:r>
              <a:rPr lang="en-US" sz="2800" b="1"/>
              <a:t>What to do about old marijuana convictions that would not be a crime if committed now?</a:t>
            </a:r>
          </a:p>
          <a:p>
            <a:pPr marL="0" indent="0">
              <a:buNone/>
            </a:pPr>
            <a:endParaRPr lang="en-US"/>
          </a:p>
        </p:txBody>
      </p:sp>
    </p:spTree>
    <p:extLst>
      <p:ext uri="{BB962C8B-B14F-4D97-AF65-F5344CB8AC3E}">
        <p14:creationId xmlns:p14="http://schemas.microsoft.com/office/powerpoint/2010/main" val="1895611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Misdemeanor Marijuana Set Asides</a:t>
            </a:r>
          </a:p>
        </p:txBody>
      </p:sp>
      <p:sp>
        <p:nvSpPr>
          <p:cNvPr id="3" name="Content Placeholder 2"/>
          <p:cNvSpPr>
            <a:spLocks noGrp="1"/>
          </p:cNvSpPr>
          <p:nvPr>
            <p:ph idx="1"/>
          </p:nvPr>
        </p:nvSpPr>
        <p:spPr/>
        <p:txBody>
          <a:bodyPr/>
          <a:lstStyle/>
          <a:p>
            <a:pPr marL="0" indent="0">
              <a:buNone/>
            </a:pPr>
            <a:endParaRPr lang="en-US"/>
          </a:p>
          <a:p>
            <a:pPr>
              <a:buFont typeface="Wingdings" panose="05000000000000000000" pitchFamily="2" charset="2"/>
              <a:buChar char="v"/>
            </a:pPr>
            <a:r>
              <a:rPr lang="en-US" sz="2800" b="1"/>
              <a:t>Special Rules Apply to Misdemeanor Marijuana Set Asides, see MCL 780.621e and MCL 780.621f</a:t>
            </a:r>
          </a:p>
          <a:p>
            <a:pPr marL="0" indent="0">
              <a:buNone/>
            </a:pPr>
            <a:endParaRPr lang="en-US" sz="2800" b="1"/>
          </a:p>
          <a:p>
            <a:pPr>
              <a:buFont typeface="Wingdings" panose="05000000000000000000" pitchFamily="2" charset="2"/>
              <a:buChar char="v"/>
            </a:pPr>
            <a:r>
              <a:rPr lang="en-US" sz="2800" b="1"/>
              <a:t>Must Be Done Via Traditional Application Process</a:t>
            </a:r>
          </a:p>
          <a:p>
            <a:pPr marL="0" indent="0">
              <a:buNone/>
            </a:pPr>
            <a:endParaRPr lang="en-US" sz="2800" b="1"/>
          </a:p>
          <a:p>
            <a:pPr>
              <a:buFont typeface="Wingdings" panose="05000000000000000000" pitchFamily="2" charset="2"/>
              <a:buChar char="v"/>
            </a:pPr>
            <a:r>
              <a:rPr lang="en-US" sz="2800" b="1"/>
              <a:t>No Waiting Period</a:t>
            </a:r>
          </a:p>
          <a:p>
            <a:pPr marL="0" indent="0">
              <a:buNone/>
            </a:pPr>
            <a:endParaRPr lang="en-US"/>
          </a:p>
        </p:txBody>
      </p:sp>
    </p:spTree>
    <p:extLst>
      <p:ext uri="{BB962C8B-B14F-4D97-AF65-F5344CB8AC3E}">
        <p14:creationId xmlns:p14="http://schemas.microsoft.com/office/powerpoint/2010/main" val="2409114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Misdemeanor Marijuana Convictions Include:</a:t>
            </a:r>
          </a:p>
        </p:txBody>
      </p:sp>
      <p:sp>
        <p:nvSpPr>
          <p:cNvPr id="3" name="Content Placeholder 2"/>
          <p:cNvSpPr>
            <a:spLocks noGrp="1"/>
          </p:cNvSpPr>
          <p:nvPr>
            <p:ph idx="1"/>
          </p:nvPr>
        </p:nvSpPr>
        <p:spPr/>
        <p:txBody>
          <a:bodyPr>
            <a:normAutofit lnSpcReduction="10000"/>
          </a:bodyPr>
          <a:lstStyle/>
          <a:p>
            <a:pPr marL="0" indent="0">
              <a:buNone/>
            </a:pPr>
            <a:endParaRPr lang="en-US"/>
          </a:p>
          <a:p>
            <a:pPr>
              <a:buFont typeface="Wingdings" panose="05000000000000000000" pitchFamily="2" charset="2"/>
              <a:buChar char="v"/>
            </a:pPr>
            <a:r>
              <a:rPr lang="en-US" sz="2400" b="1"/>
              <a:t>Possession of Marijuana under MCL 333.7403(2)(d)</a:t>
            </a:r>
            <a:br>
              <a:rPr lang="en-US" sz="2400" b="1"/>
            </a:br>
            <a:endParaRPr lang="en-US" sz="2400" b="1"/>
          </a:p>
          <a:p>
            <a:pPr>
              <a:buFont typeface="Wingdings" panose="05000000000000000000" pitchFamily="2" charset="2"/>
              <a:buChar char="v"/>
            </a:pPr>
            <a:r>
              <a:rPr lang="en-US" sz="2400" b="1"/>
              <a:t>Use of Marijuana under MCL 333.7404(2)(d)</a:t>
            </a:r>
          </a:p>
          <a:p>
            <a:pPr marL="0" indent="0">
              <a:buNone/>
            </a:pPr>
            <a:endParaRPr lang="en-US" sz="2400" b="1"/>
          </a:p>
          <a:p>
            <a:pPr>
              <a:buFont typeface="Wingdings" panose="05000000000000000000" pitchFamily="2" charset="2"/>
              <a:buChar char="v"/>
            </a:pPr>
            <a:r>
              <a:rPr lang="en-US" sz="2400" b="1"/>
              <a:t>Marijuana Paraphernalia under MCL 333.7543</a:t>
            </a:r>
          </a:p>
          <a:p>
            <a:pPr marL="0" indent="0">
              <a:buNone/>
            </a:pPr>
            <a:endParaRPr lang="en-US" b="1"/>
          </a:p>
          <a:p>
            <a:pPr>
              <a:buFont typeface="Wingdings" panose="05000000000000000000" pitchFamily="2" charset="2"/>
              <a:buChar char="v"/>
            </a:pPr>
            <a:r>
              <a:rPr lang="en-US" b="1"/>
              <a:t>A Local Ordinance Substantially Corresponding to Above Crimes</a:t>
            </a:r>
          </a:p>
          <a:p>
            <a:pPr marL="0" indent="0">
              <a:buNone/>
            </a:pPr>
            <a:endParaRPr lang="en-US"/>
          </a:p>
          <a:p>
            <a:pPr marL="0" indent="0">
              <a:buNone/>
            </a:pPr>
            <a:r>
              <a:rPr lang="en-US"/>
              <a:t>MCL 780.621e</a:t>
            </a:r>
          </a:p>
        </p:txBody>
      </p:sp>
    </p:spTree>
    <p:extLst>
      <p:ext uri="{BB962C8B-B14F-4D97-AF65-F5344CB8AC3E}">
        <p14:creationId xmlns:p14="http://schemas.microsoft.com/office/powerpoint/2010/main" val="41986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a:t>No Waiting Period for Misdemeanor Marijuana</a:t>
            </a:r>
          </a:p>
        </p:txBody>
      </p:sp>
      <p:sp>
        <p:nvSpPr>
          <p:cNvPr id="3" name="Content Placeholder 2"/>
          <p:cNvSpPr>
            <a:spLocks noGrp="1"/>
          </p:cNvSpPr>
          <p:nvPr>
            <p:ph idx="1"/>
          </p:nvPr>
        </p:nvSpPr>
        <p:spPr/>
        <p:txBody>
          <a:bodyPr>
            <a:normAutofit lnSpcReduction="10000"/>
          </a:bodyPr>
          <a:lstStyle/>
          <a:p>
            <a:pPr marL="0" indent="0">
              <a:buNone/>
            </a:pPr>
            <a:endParaRPr lang="en-US"/>
          </a:p>
          <a:p>
            <a:pPr>
              <a:buFont typeface="Wingdings" panose="05000000000000000000" pitchFamily="2" charset="2"/>
              <a:buChar char="v"/>
            </a:pPr>
            <a:r>
              <a:rPr lang="en-US" b="1"/>
              <a:t>No Wait Period Specified in MCL 780.621d (traditional application)</a:t>
            </a:r>
          </a:p>
          <a:p>
            <a:pPr marL="0" indent="0">
              <a:buNone/>
            </a:pPr>
            <a:endParaRPr lang="en-US" b="1"/>
          </a:p>
          <a:p>
            <a:pPr>
              <a:buFont typeface="Wingdings" panose="05000000000000000000" pitchFamily="2" charset="2"/>
              <a:buChar char="v"/>
            </a:pPr>
            <a:r>
              <a:rPr lang="en-US" b="1"/>
              <a:t>No Wait Period Specified in MCL 780.621e (misdemeanor marijuana)</a:t>
            </a:r>
          </a:p>
          <a:p>
            <a:pPr marL="0" indent="0">
              <a:buNone/>
            </a:pPr>
            <a:endParaRPr lang="en-US" b="1"/>
          </a:p>
          <a:p>
            <a:pPr>
              <a:buFont typeface="Wingdings" panose="05000000000000000000" pitchFamily="2" charset="2"/>
              <a:buChar char="v"/>
            </a:pPr>
            <a:r>
              <a:rPr lang="en-US" b="1"/>
              <a:t>Instead, MCL 780.621e states, “Beginning on January 1, 2020, a person convicted of 1 or more misdemeanor marihuana offenses may apply to set aside the conviction or convictions under this subsection.”</a:t>
            </a:r>
          </a:p>
          <a:p>
            <a:pPr marL="0" indent="0">
              <a:buNone/>
            </a:pPr>
            <a:endParaRPr lang="en-US"/>
          </a:p>
          <a:p>
            <a:pPr marL="0" indent="0">
              <a:buNone/>
            </a:pPr>
            <a:r>
              <a:rPr lang="en-US"/>
              <a:t>*Note, subsection 621e did not take effect until April 11, 2021.</a:t>
            </a:r>
          </a:p>
        </p:txBody>
      </p:sp>
    </p:spTree>
    <p:extLst>
      <p:ext uri="{BB962C8B-B14F-4D97-AF65-F5344CB8AC3E}">
        <p14:creationId xmlns:p14="http://schemas.microsoft.com/office/powerpoint/2010/main" val="4196214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Once Application is Filed for Misdemeanor Marijuana</a:t>
            </a:r>
          </a:p>
        </p:txBody>
      </p:sp>
      <p:sp>
        <p:nvSpPr>
          <p:cNvPr id="3" name="Content Placeholder 2"/>
          <p:cNvSpPr>
            <a:spLocks noGrp="1"/>
          </p:cNvSpPr>
          <p:nvPr>
            <p:ph idx="1"/>
          </p:nvPr>
        </p:nvSpPr>
        <p:spPr>
          <a:xfrm>
            <a:off x="1103312" y="2243621"/>
            <a:ext cx="8946541" cy="3814074"/>
          </a:xfrm>
        </p:spPr>
        <p:txBody>
          <a:bodyPr>
            <a:normAutofit fontScale="92500"/>
          </a:bodyPr>
          <a:lstStyle/>
          <a:p>
            <a:pPr marL="0" indent="0">
              <a:buNone/>
            </a:pPr>
            <a:endParaRPr lang="en-US"/>
          </a:p>
          <a:p>
            <a:pPr>
              <a:buFont typeface="Wingdings" panose="05000000000000000000" pitchFamily="2" charset="2"/>
              <a:buChar char="v"/>
            </a:pPr>
            <a:r>
              <a:rPr lang="en-US" sz="2400" b="1"/>
              <a:t>REBUTTABLE PRESUMPTION that the conviction would not have been a crime if committed on or after December 6, 2018 (date on which recreational marijuana was legalized)</a:t>
            </a:r>
          </a:p>
          <a:p>
            <a:pPr>
              <a:buFont typeface="Wingdings" panose="05000000000000000000" pitchFamily="2" charset="2"/>
              <a:buChar char="v"/>
            </a:pPr>
            <a:endParaRPr lang="en-US" sz="2400" b="1"/>
          </a:p>
          <a:p>
            <a:pPr>
              <a:buFont typeface="Wingdings" panose="05000000000000000000" pitchFamily="2" charset="2"/>
              <a:buChar char="v"/>
            </a:pPr>
            <a:r>
              <a:rPr lang="en-US" sz="2400" b="1"/>
              <a:t>Prosecutor has 60 days to file answer rebutting presumption, using preponderance of evidence standard</a:t>
            </a:r>
          </a:p>
          <a:p>
            <a:pPr marL="0" indent="0">
              <a:buNone/>
            </a:pPr>
            <a:endParaRPr lang="en-US"/>
          </a:p>
          <a:p>
            <a:pPr marL="0" indent="0">
              <a:buNone/>
            </a:pPr>
            <a:r>
              <a:rPr lang="en-US"/>
              <a:t>MCL 780.621e</a:t>
            </a:r>
          </a:p>
        </p:txBody>
      </p:sp>
    </p:spTree>
    <p:extLst>
      <p:ext uri="{BB962C8B-B14F-4D97-AF65-F5344CB8AC3E}">
        <p14:creationId xmlns:p14="http://schemas.microsoft.com/office/powerpoint/2010/main" val="3925385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Rebuttable Presumption and Hearing</a:t>
            </a:r>
          </a:p>
        </p:txBody>
      </p:sp>
      <p:sp>
        <p:nvSpPr>
          <p:cNvPr id="3" name="Content Placeholder 2"/>
          <p:cNvSpPr>
            <a:spLocks noGrp="1"/>
          </p:cNvSpPr>
          <p:nvPr>
            <p:ph idx="1"/>
          </p:nvPr>
        </p:nvSpPr>
        <p:spPr/>
        <p:txBody>
          <a:bodyPr>
            <a:normAutofit fontScale="85000" lnSpcReduction="20000"/>
          </a:bodyPr>
          <a:lstStyle/>
          <a:p>
            <a:pPr marL="0" indent="0">
              <a:buNone/>
            </a:pPr>
            <a:endParaRPr lang="en-US"/>
          </a:p>
          <a:p>
            <a:pPr>
              <a:buFont typeface="Wingdings" panose="05000000000000000000" pitchFamily="2" charset="2"/>
              <a:buChar char="v"/>
            </a:pPr>
            <a:r>
              <a:rPr lang="en-US" sz="2800" b="1"/>
              <a:t>If prosecutor files timely rebuttal, court must set hearing within 30 days</a:t>
            </a:r>
          </a:p>
          <a:p>
            <a:pPr>
              <a:buFont typeface="Wingdings" panose="05000000000000000000" pitchFamily="2" charset="2"/>
              <a:buChar char="v"/>
            </a:pPr>
            <a:endParaRPr lang="en-US" sz="2800" b="1"/>
          </a:p>
          <a:p>
            <a:pPr>
              <a:buFont typeface="Wingdings" panose="05000000000000000000" pitchFamily="2" charset="2"/>
              <a:buChar char="v"/>
            </a:pPr>
            <a:r>
              <a:rPr lang="en-US" sz="2800" b="1"/>
              <a:t>If prosecutor does not file answer, court must enter order granting application within 21 days</a:t>
            </a:r>
          </a:p>
          <a:p>
            <a:pPr>
              <a:buFont typeface="Wingdings" panose="05000000000000000000" pitchFamily="2" charset="2"/>
              <a:buChar char="v"/>
            </a:pPr>
            <a:endParaRPr lang="en-US" sz="2800" b="1"/>
          </a:p>
          <a:p>
            <a:pPr>
              <a:buFont typeface="Wingdings" panose="05000000000000000000" pitchFamily="2" charset="2"/>
              <a:buChar char="v"/>
            </a:pPr>
            <a:r>
              <a:rPr lang="en-US" sz="2800" b="1"/>
              <a:t>Losing party may file for rehearing, reconsideration or appeal</a:t>
            </a:r>
          </a:p>
          <a:p>
            <a:pPr marL="0" indent="0">
              <a:buNone/>
            </a:pPr>
            <a:endParaRPr lang="en-US"/>
          </a:p>
          <a:p>
            <a:pPr marL="0" indent="0">
              <a:buNone/>
            </a:pPr>
            <a:r>
              <a:rPr lang="en-US"/>
              <a:t>MCL 780.621e and MCL 780.621f</a:t>
            </a:r>
          </a:p>
        </p:txBody>
      </p:sp>
    </p:spTree>
    <p:extLst>
      <p:ext uri="{BB962C8B-B14F-4D97-AF65-F5344CB8AC3E}">
        <p14:creationId xmlns:p14="http://schemas.microsoft.com/office/powerpoint/2010/main" val="3850417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What an Individual Does </a:t>
            </a:r>
            <a:r>
              <a:rPr lang="en-US" sz="3600" i="1"/>
              <a:t>NOT </a:t>
            </a:r>
            <a:r>
              <a:rPr lang="en-US" sz="3600"/>
              <a:t>Win with a Misdemeanor Marijuana Set Aside</a:t>
            </a:r>
          </a:p>
        </p:txBody>
      </p:sp>
      <p:sp>
        <p:nvSpPr>
          <p:cNvPr id="3" name="Content Placeholder 2"/>
          <p:cNvSpPr>
            <a:spLocks noGrp="1"/>
          </p:cNvSpPr>
          <p:nvPr>
            <p:ph idx="1"/>
          </p:nvPr>
        </p:nvSpPr>
        <p:spPr/>
        <p:txBody>
          <a:bodyPr>
            <a:normAutofit fontScale="70000" lnSpcReduction="20000"/>
          </a:bodyPr>
          <a:lstStyle/>
          <a:p>
            <a:pPr marL="0" indent="0">
              <a:buNone/>
            </a:pPr>
            <a:endParaRPr lang="en-US"/>
          </a:p>
          <a:p>
            <a:pPr>
              <a:buFont typeface="Wingdings" panose="05000000000000000000" pitchFamily="2" charset="2"/>
              <a:buChar char="v"/>
            </a:pPr>
            <a:r>
              <a:rPr lang="en-US" sz="4100" b="1"/>
              <a:t>No return of fines, costs, fees or forfeited property/money</a:t>
            </a:r>
          </a:p>
          <a:p>
            <a:pPr>
              <a:buFont typeface="Wingdings" panose="05000000000000000000" pitchFamily="2" charset="2"/>
              <a:buChar char="v"/>
            </a:pPr>
            <a:endParaRPr lang="en-US" sz="4100" b="1"/>
          </a:p>
          <a:p>
            <a:pPr>
              <a:buFont typeface="Wingdings" panose="05000000000000000000" pitchFamily="2" charset="2"/>
              <a:buChar char="v"/>
            </a:pPr>
            <a:r>
              <a:rPr lang="en-US" sz="4100" b="1"/>
              <a:t>Not entitled to resentencing on a prior conviction where the misdemeanor marijuana conviction was used to score the sentencing guidelines or used to determine the appropriate sentence</a:t>
            </a:r>
          </a:p>
          <a:p>
            <a:pPr marL="0" indent="0">
              <a:buNone/>
            </a:pPr>
            <a:endParaRPr lang="en-US"/>
          </a:p>
          <a:p>
            <a:pPr marL="0" indent="0">
              <a:buNone/>
            </a:pPr>
            <a:r>
              <a:rPr lang="en-US"/>
              <a:t>MCL 780.621f</a:t>
            </a:r>
          </a:p>
          <a:p>
            <a:pPr marL="0" indent="0">
              <a:buNone/>
            </a:pPr>
            <a:endParaRPr lang="en-US"/>
          </a:p>
          <a:p>
            <a:pPr marL="0" indent="0">
              <a:buNone/>
            </a:pPr>
            <a:endParaRPr lang="en-US"/>
          </a:p>
        </p:txBody>
      </p:sp>
    </p:spTree>
    <p:extLst>
      <p:ext uri="{BB962C8B-B14F-4D97-AF65-F5344CB8AC3E}">
        <p14:creationId xmlns:p14="http://schemas.microsoft.com/office/powerpoint/2010/main" val="2741008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Additional Consideration with Misdemeanor Marijuana Set Asides</a:t>
            </a:r>
          </a:p>
        </p:txBody>
      </p:sp>
      <p:sp>
        <p:nvSpPr>
          <p:cNvPr id="3" name="Content Placeholder 2"/>
          <p:cNvSpPr>
            <a:spLocks noGrp="1"/>
          </p:cNvSpPr>
          <p:nvPr>
            <p:ph idx="1"/>
          </p:nvPr>
        </p:nvSpPr>
        <p:spPr/>
        <p:txBody>
          <a:bodyPr>
            <a:normAutofit fontScale="85000" lnSpcReduction="10000"/>
          </a:bodyPr>
          <a:lstStyle/>
          <a:p>
            <a:pPr marL="0" indent="0">
              <a:buNone/>
            </a:pPr>
            <a:endParaRPr lang="en-US"/>
          </a:p>
          <a:p>
            <a:pPr>
              <a:buFont typeface="Wingdings" panose="05000000000000000000" pitchFamily="2" charset="2"/>
              <a:buChar char="v"/>
            </a:pPr>
            <a:r>
              <a:rPr lang="en-US" sz="3200" b="1"/>
              <a:t>Same Transaction Rule Applies to Misdemeanor Marijuana Set Asides, </a:t>
            </a:r>
            <a:r>
              <a:rPr lang="en-US" sz="3200"/>
              <a:t>MCL 780.621f</a:t>
            </a:r>
          </a:p>
          <a:p>
            <a:pPr marL="0" indent="0">
              <a:buNone/>
            </a:pPr>
            <a:endParaRPr lang="en-US" sz="3200" b="1"/>
          </a:p>
          <a:p>
            <a:pPr>
              <a:buFont typeface="Wingdings" panose="05000000000000000000" pitchFamily="2" charset="2"/>
              <a:buChar char="v"/>
            </a:pPr>
            <a:r>
              <a:rPr lang="en-US" sz="3200" b="1"/>
              <a:t>MSP and arresting agency continue to maintain non-public record of conviction and the following agencies may access the record for certain purposes (governor, law enforcement, prosecutor, judicial branch agencies, MDOC, attorney general, courts), </a:t>
            </a:r>
            <a:r>
              <a:rPr lang="en-US" sz="3200"/>
              <a:t>MCL 780.621f &amp; 780.623</a:t>
            </a:r>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3095598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   Three Discrete Topics of Discussion</a:t>
            </a:r>
          </a:p>
        </p:txBody>
      </p:sp>
      <p:sp>
        <p:nvSpPr>
          <p:cNvPr id="3" name="Content Placeholder 2"/>
          <p:cNvSpPr>
            <a:spLocks noGrp="1"/>
          </p:cNvSpPr>
          <p:nvPr>
            <p:ph idx="1"/>
          </p:nvPr>
        </p:nvSpPr>
        <p:spPr>
          <a:xfrm>
            <a:off x="862886" y="2047742"/>
            <a:ext cx="9186968" cy="4200658"/>
          </a:xfrm>
        </p:spPr>
        <p:txBody>
          <a:bodyPr/>
          <a:lstStyle/>
          <a:p>
            <a:pPr marL="0" indent="0">
              <a:buNone/>
            </a:pPr>
            <a:endParaRPr lang="en-US"/>
          </a:p>
          <a:p>
            <a:pPr marL="457200" indent="-457200">
              <a:buAutoNum type="arabicPeriod"/>
            </a:pPr>
            <a:r>
              <a:rPr lang="en-US" sz="2400" b="1"/>
              <a:t>Traditional Application Process (revised, eff. 4/11/21)</a:t>
            </a:r>
          </a:p>
          <a:p>
            <a:pPr marL="457200" indent="-457200">
              <a:buAutoNum type="arabicPeriod"/>
            </a:pPr>
            <a:endParaRPr lang="en-US" sz="2400" b="1"/>
          </a:p>
          <a:p>
            <a:pPr marL="457200" indent="-457200">
              <a:buAutoNum type="arabicPeriod"/>
            </a:pPr>
            <a:r>
              <a:rPr lang="en-US" sz="2400" b="1"/>
              <a:t>Misdemeanor Marijuana Set-Asides (new, eff. 4/11/21)</a:t>
            </a:r>
          </a:p>
          <a:p>
            <a:pPr marL="457200" indent="-457200">
              <a:buAutoNum type="arabicPeriod"/>
            </a:pPr>
            <a:endParaRPr lang="en-US" sz="2400" b="1"/>
          </a:p>
          <a:p>
            <a:pPr marL="457200" indent="-457200">
              <a:buAutoNum type="arabicPeriod"/>
            </a:pPr>
            <a:r>
              <a:rPr lang="en-US" sz="2400" b="1"/>
              <a:t>Automatic Set-Aside Process (new, eff. late 2022 or later)</a:t>
            </a:r>
          </a:p>
        </p:txBody>
      </p:sp>
    </p:spTree>
    <p:extLst>
      <p:ext uri="{BB962C8B-B14F-4D97-AF65-F5344CB8AC3E}">
        <p14:creationId xmlns:p14="http://schemas.microsoft.com/office/powerpoint/2010/main" val="295316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If the Traditional or Misdemeanor Application Is Denied</a:t>
            </a:r>
          </a:p>
        </p:txBody>
      </p:sp>
      <p:sp>
        <p:nvSpPr>
          <p:cNvPr id="3" name="Content Placeholder 2"/>
          <p:cNvSpPr>
            <a:spLocks noGrp="1"/>
          </p:cNvSpPr>
          <p:nvPr>
            <p:ph idx="1"/>
          </p:nvPr>
        </p:nvSpPr>
        <p:spPr/>
        <p:txBody>
          <a:bodyPr>
            <a:normAutofit lnSpcReduction="10000"/>
          </a:bodyPr>
          <a:lstStyle/>
          <a:p>
            <a:pPr marL="0" indent="0">
              <a:buNone/>
            </a:pPr>
            <a:endParaRPr lang="en-US"/>
          </a:p>
          <a:p>
            <a:pPr marL="0" indent="0">
              <a:buNone/>
            </a:pPr>
            <a:r>
              <a:rPr lang="en-US" sz="4000" b="1"/>
              <a:t>If the court denies the application, make sure to request language in the order allowing re-filing before three years (if re-filing is desired)</a:t>
            </a:r>
          </a:p>
          <a:p>
            <a:pPr marL="0" indent="0">
              <a:buNone/>
            </a:pPr>
            <a:endParaRPr lang="en-US" sz="4000" b="1"/>
          </a:p>
          <a:p>
            <a:pPr marL="0" indent="0">
              <a:buNone/>
            </a:pPr>
            <a:r>
              <a:rPr lang="en-US" sz="2600"/>
              <a:t>See MCL 780.621d</a:t>
            </a:r>
          </a:p>
          <a:p>
            <a:pPr marL="0" indent="0">
              <a:buNone/>
            </a:pPr>
            <a:endParaRPr lang="en-US" sz="4000" b="1"/>
          </a:p>
          <a:p>
            <a:pPr marL="0" indent="0">
              <a:buNone/>
            </a:pPr>
            <a:endParaRPr lang="en-US" sz="4000"/>
          </a:p>
          <a:p>
            <a:pPr marL="0" indent="0">
              <a:buNone/>
            </a:pPr>
            <a:endParaRPr lang="en-US" sz="4000" b="1"/>
          </a:p>
          <a:p>
            <a:pPr marL="0" indent="0">
              <a:buNone/>
            </a:pPr>
            <a:endParaRPr lang="en-US" sz="4000"/>
          </a:p>
        </p:txBody>
      </p:sp>
    </p:spTree>
    <p:extLst>
      <p:ext uri="{BB962C8B-B14F-4D97-AF65-F5344CB8AC3E}">
        <p14:creationId xmlns:p14="http://schemas.microsoft.com/office/powerpoint/2010/main" val="873824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91522" y="1277695"/>
            <a:ext cx="6096000" cy="4524315"/>
          </a:xfrm>
          <a:prstGeom prst="rect">
            <a:avLst/>
          </a:prstGeom>
        </p:spPr>
        <p:txBody>
          <a:bodyPr>
            <a:spAutoFit/>
          </a:bodyPr>
          <a:lstStyle/>
          <a:p>
            <a:r>
              <a:rPr lang="en-US" sz="2400"/>
              <a:t>Copyright 20221 Bodman PLC.  Bodman has prepared this for informational purposes only. This message or the information contained herein is not intended to create, and receipt of it does not evidence, an attorney-client relationship.  Readers should not act on this information without consulting the applicable statutes.  Individual circumstances or other facts might affect the applicability of conclusions expressed herein.</a:t>
            </a:r>
          </a:p>
        </p:txBody>
      </p:sp>
    </p:spTree>
    <p:extLst>
      <p:ext uri="{BB962C8B-B14F-4D97-AF65-F5344CB8AC3E}">
        <p14:creationId xmlns:p14="http://schemas.microsoft.com/office/powerpoint/2010/main" val="15109147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メイリオ"/>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entury Gothic" panose="020B0502020202020204"/>
        <a:ea typeface=""/>
        <a:cs typeface=""/>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メイリオ"/>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tileRect/>
        </a:gradFill>
        <a:gradFill rotWithShape="1">
          <a:gsLst>
            <a:gs pos="0">
              <a:schemeClr val="phClr">
                <a:tint val="98000"/>
                <a:lumMod val="114000"/>
              </a:schemeClr>
            </a:gs>
            <a:gs pos="100000">
              <a:schemeClr val="phClr">
                <a:shade val="90000"/>
                <a:lumMod val="84000"/>
              </a:schemeClr>
            </a:gs>
          </a:gsLst>
          <a:lin ang="5400000" scaled="0"/>
          <a:tileRect/>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tileRect/>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rcRect/>
          <a:stretch>
            <a:fillRect/>
          </a:stretch>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E3CEE7DA6A784A89945A42F5483BB6" ma:contentTypeVersion="12" ma:contentTypeDescription="Create a new document." ma:contentTypeScope="" ma:versionID="c3973fc801835accfa84244be6b983db">
  <xsd:schema xmlns:xsd="http://www.w3.org/2001/XMLSchema" xmlns:xs="http://www.w3.org/2001/XMLSchema" xmlns:p="http://schemas.microsoft.com/office/2006/metadata/properties" xmlns:ns2="abf33fb2-8a31-4e77-b731-ee90016e778b" xmlns:ns3="e1a0de20-f754-4a03-82eb-d8a45623d37c" targetNamespace="http://schemas.microsoft.com/office/2006/metadata/properties" ma:root="true" ma:fieldsID="adeaa56ed9b2467780fea7e5fa34d323" ns2:_="" ns3:_="">
    <xsd:import namespace="abf33fb2-8a31-4e77-b731-ee90016e778b"/>
    <xsd:import namespace="e1a0de20-f754-4a03-82eb-d8a45623d37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Location" minOccurs="0"/>
                <xsd:element ref="ns2:MediaServiceGenerationTime" minOccurs="0"/>
                <xsd:element ref="ns2:MediaServiceEventHashCode" minOccurs="0"/>
                <xsd:element ref="ns2:MediaServiceAutoTags"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f33fb2-8a31-4e77-b731-ee90016e77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1a0de20-f754-4a03-82eb-d8a45623d37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F0678D-6328-43B0-9067-022D1A8636BA}"/>
</file>

<file path=customXml/itemProps2.xml><?xml version="1.0" encoding="utf-8"?>
<ds:datastoreItem xmlns:ds="http://schemas.openxmlformats.org/officeDocument/2006/customXml" ds:itemID="{15AB516E-4A4F-45F9-8B50-9529BAE0F7D0}"/>
</file>

<file path=customXml/itemProps3.xml><?xml version="1.0" encoding="utf-8"?>
<ds:datastoreItem xmlns:ds="http://schemas.openxmlformats.org/officeDocument/2006/customXml" ds:itemID="{C8FA0ECA-2ABA-4535-B801-A3F98BCDA14B}"/>
</file>

<file path=docProps/app.xml><?xml version="1.0" encoding="utf-8"?>
<Properties xmlns="http://schemas.openxmlformats.org/officeDocument/2006/extended-properties" xmlns:vt="http://schemas.openxmlformats.org/officeDocument/2006/docPropsVTypes">
  <Template>Ion</Template>
  <TotalTime>1005</TotalTime>
  <Words>2138</Words>
  <Application>Microsoft Office PowerPoint</Application>
  <PresentationFormat>Widescreen</PresentationFormat>
  <Paragraphs>306</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Century Gothic</vt:lpstr>
      <vt:lpstr>Wingdings</vt:lpstr>
      <vt:lpstr>Wingdings 3</vt:lpstr>
      <vt:lpstr>Ion</vt:lpstr>
      <vt:lpstr>Michigan Clean Slate Expungement Laws (eff. April 11, 2021)</vt:lpstr>
      <vt:lpstr>  First, A Word About Terminology</vt:lpstr>
      <vt:lpstr>Second, Always Check the Statute</vt:lpstr>
      <vt:lpstr>   Three Discrete Topics of Discussion</vt:lpstr>
      <vt:lpstr>For All Three Topics, What Is NOT Accomplished by a Set-Aside</vt:lpstr>
      <vt:lpstr>       Traditional Applications for                 Adult Convictions</vt:lpstr>
      <vt:lpstr>  Traditional Applications for Adults</vt:lpstr>
      <vt:lpstr>  Traditional Applications for Adults</vt:lpstr>
      <vt:lpstr>Traditional Application:  Who Is Eligible to Set Aside a Conviction?</vt:lpstr>
      <vt:lpstr>Traditional Application:  Who Is Eligible to Set Aside A Conviction?</vt:lpstr>
      <vt:lpstr>Traditional Application:  Who Is Eligible (MCL 780.621, subdivisions b and c)</vt:lpstr>
      <vt:lpstr>Traditional Application:  Who Is Eligible</vt:lpstr>
      <vt:lpstr>Traditional Application: Same Transaction  or “One Bad Night” Rule </vt:lpstr>
      <vt:lpstr>Same Transaction Rule Does Not Apply to</vt:lpstr>
      <vt:lpstr>Can This Person Set Aside FIVE Felony Convictions?</vt:lpstr>
      <vt:lpstr>Can This Person Set Aside His/Her  Five Felony Convictions?</vt:lpstr>
      <vt:lpstr>  Traditional Applications for Adults</vt:lpstr>
      <vt:lpstr>   Traditional Application: Ineligible Offenses </vt:lpstr>
      <vt:lpstr>Traditional Application:  Ineligible Offenses, MCL 780.621c</vt:lpstr>
      <vt:lpstr>Traditional Application:  Ineligible TRAFFIC Offenses</vt:lpstr>
      <vt:lpstr>Is this Person Eligible to Set Aside These Three Convictions?</vt:lpstr>
      <vt:lpstr>  Traditional Applications for Adults</vt:lpstr>
      <vt:lpstr>Traditional Application:  New Waiting Periods under MCL 780.621d</vt:lpstr>
      <vt:lpstr>Traditional Application:  When Does the Waiting Period Start?</vt:lpstr>
      <vt:lpstr>Traditional Application:  No New Conviction or Pending Charges</vt:lpstr>
      <vt:lpstr>Traditional Application:  Wait Period Questions</vt:lpstr>
      <vt:lpstr>Traditional Application:  Wait Period Questions</vt:lpstr>
      <vt:lpstr>Traditional Application:  Is this Person Eligible to File?</vt:lpstr>
      <vt:lpstr>  Traditional Applications for Adults</vt:lpstr>
      <vt:lpstr>Misdemeanor Marijuana Set Asides</vt:lpstr>
      <vt:lpstr>Why Special Rules for Misdemeanor Marijuana</vt:lpstr>
      <vt:lpstr>Misdemeanor Marijuana Set Asides</vt:lpstr>
      <vt:lpstr>Misdemeanor Marijuana Convictions Include:</vt:lpstr>
      <vt:lpstr>No Waiting Period for Misdemeanor Marijuana</vt:lpstr>
      <vt:lpstr>Once Application is Filed for Misdemeanor Marijuana</vt:lpstr>
      <vt:lpstr>Rebuttable Presumption and Hearing</vt:lpstr>
      <vt:lpstr>What an Individual Does NOT Win with a Misdemeanor Marijuana Set Aside</vt:lpstr>
      <vt:lpstr>Additional Consideration with Misdemeanor Marijuana Set Asides</vt:lpstr>
      <vt:lpstr>   Three Discrete Topics of Discussion</vt:lpstr>
      <vt:lpstr> If the Traditional or Misdemeanor Application Is Denied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Michigan Clean Slate Expungement Laws (eff. April 11, 2021)</dc:title>
  <dc:creator>Shannon Lucas</dc:creator>
  <cp:lastModifiedBy>Shannon Lucas</cp:lastModifiedBy>
  <cp:revision>65</cp:revision>
  <dcterms:created xsi:type="dcterms:W3CDTF">2021-03-29T16:42:09Z</dcterms:created>
  <dcterms:modified xsi:type="dcterms:W3CDTF">2021-04-15T19:01:46Z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0x010100F6E3CEE7DA6A784A89945A42F5483BB6</vt:lpwstr>
  </property>
</Properties>
</file>